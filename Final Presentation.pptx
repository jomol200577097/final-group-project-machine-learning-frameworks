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9" r:id="rId8"/>
    <p:sldId id="262" r:id="rId9"/>
    <p:sldId id="270" r:id="rId10"/>
    <p:sldId id="263" r:id="rId11"/>
    <p:sldId id="271" r:id="rId12"/>
    <p:sldId id="264" r:id="rId13"/>
    <p:sldId id="265" r:id="rId14"/>
    <p:sldId id="272" r:id="rId15"/>
    <p:sldId id="266" r:id="rId16"/>
    <p:sldId id="267" r:id="rId17"/>
    <p:sldId id="268"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57" d="100"/>
          <a:sy n="57" d="100"/>
        </p:scale>
        <p:origin x="140" y="3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_rels/data3.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10" Type="http://schemas.openxmlformats.org/officeDocument/2006/relationships/image" Target="../media/image22.svg"/><Relationship Id="rId4" Type="http://schemas.openxmlformats.org/officeDocument/2006/relationships/image" Target="../media/image16.svg"/><Relationship Id="rId9" Type="http://schemas.openxmlformats.org/officeDocument/2006/relationships/image" Target="../media/image21.png"/></Relationships>
</file>

<file path=ppt/diagrams/_rels/drawing3.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10" Type="http://schemas.openxmlformats.org/officeDocument/2006/relationships/image" Target="../media/image22.svg"/><Relationship Id="rId4" Type="http://schemas.openxmlformats.org/officeDocument/2006/relationships/image" Target="../media/image16.svg"/><Relationship Id="rId9" Type="http://schemas.openxmlformats.org/officeDocument/2006/relationships/image" Target="../media/image21.pn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24C451B-38A2-4C16-81C9-1E4EE5DE9CA0}" type="doc">
      <dgm:prSet loTypeId="urn:microsoft.com/office/officeart/2016/7/layout/RepeatingBendingProcessNew" loCatId="process" qsTypeId="urn:microsoft.com/office/officeart/2005/8/quickstyle/simple4" qsCatId="simple" csTypeId="urn:microsoft.com/office/officeart/2005/8/colors/colorful1" csCatId="colorful"/>
      <dgm:spPr/>
      <dgm:t>
        <a:bodyPr/>
        <a:lstStyle/>
        <a:p>
          <a:endParaRPr lang="en-US"/>
        </a:p>
      </dgm:t>
    </dgm:pt>
    <dgm:pt modelId="{2D917145-CB0E-4D85-B29D-D5A07558E0C7}">
      <dgm:prSet/>
      <dgm:spPr/>
      <dgm:t>
        <a:bodyPr/>
        <a:lstStyle/>
        <a:p>
          <a:r>
            <a:rPr lang="en-US"/>
            <a:t>The primary objectives of our project are as follows:</a:t>
          </a:r>
        </a:p>
      </dgm:t>
    </dgm:pt>
    <dgm:pt modelId="{2F5DD6F4-8BA7-4C36-B59D-ACC3CF3CEC45}" type="parTrans" cxnId="{0CD9EA33-E468-40A7-B0B6-7933240A3D56}">
      <dgm:prSet/>
      <dgm:spPr/>
      <dgm:t>
        <a:bodyPr/>
        <a:lstStyle/>
        <a:p>
          <a:endParaRPr lang="en-US"/>
        </a:p>
      </dgm:t>
    </dgm:pt>
    <dgm:pt modelId="{809F9F83-75EA-4A61-BC26-8F1545FEE9E6}" type="sibTrans" cxnId="{0CD9EA33-E468-40A7-B0B6-7933240A3D56}">
      <dgm:prSet/>
      <dgm:spPr/>
      <dgm:t>
        <a:bodyPr/>
        <a:lstStyle/>
        <a:p>
          <a:endParaRPr lang="en-US"/>
        </a:p>
      </dgm:t>
    </dgm:pt>
    <dgm:pt modelId="{24F83BEF-5D60-4358-BA94-691725505303}">
      <dgm:prSet/>
      <dgm:spPr/>
      <dgm:t>
        <a:bodyPr/>
        <a:lstStyle/>
        <a:p>
          <a:r>
            <a:rPr lang="en-US"/>
            <a:t>To preprocess raw tweet data and prepare it for analysis.</a:t>
          </a:r>
        </a:p>
      </dgm:t>
    </dgm:pt>
    <dgm:pt modelId="{13BBE88A-7D77-41F4-BAE0-CCFB3933A6A0}" type="parTrans" cxnId="{8AB23361-89F7-4E9D-83D0-DC84B9811086}">
      <dgm:prSet/>
      <dgm:spPr/>
      <dgm:t>
        <a:bodyPr/>
        <a:lstStyle/>
        <a:p>
          <a:endParaRPr lang="en-US"/>
        </a:p>
      </dgm:t>
    </dgm:pt>
    <dgm:pt modelId="{41D2A598-A09D-43F3-AAA0-E2C5DD5AFD5B}" type="sibTrans" cxnId="{8AB23361-89F7-4E9D-83D0-DC84B9811086}">
      <dgm:prSet/>
      <dgm:spPr/>
      <dgm:t>
        <a:bodyPr/>
        <a:lstStyle/>
        <a:p>
          <a:endParaRPr lang="en-US"/>
        </a:p>
      </dgm:t>
    </dgm:pt>
    <dgm:pt modelId="{BB9CBC50-BAEE-4908-9930-991F742FFE95}">
      <dgm:prSet/>
      <dgm:spPr/>
      <dgm:t>
        <a:bodyPr/>
        <a:lstStyle/>
        <a:p>
          <a:r>
            <a:rPr lang="en-US"/>
            <a:t>To explore and visualize trends in the data using EDA techniques.</a:t>
          </a:r>
        </a:p>
      </dgm:t>
    </dgm:pt>
    <dgm:pt modelId="{3E777B5C-E4B5-43F2-942A-F8C8EB7BB41D}" type="parTrans" cxnId="{60E306DD-08A8-4DAE-AD4B-1374B04661EA}">
      <dgm:prSet/>
      <dgm:spPr/>
      <dgm:t>
        <a:bodyPr/>
        <a:lstStyle/>
        <a:p>
          <a:endParaRPr lang="en-US"/>
        </a:p>
      </dgm:t>
    </dgm:pt>
    <dgm:pt modelId="{B3F5A8E7-EBF3-4306-8EC6-8EF985EFAFB6}" type="sibTrans" cxnId="{60E306DD-08A8-4DAE-AD4B-1374B04661EA}">
      <dgm:prSet/>
      <dgm:spPr/>
      <dgm:t>
        <a:bodyPr/>
        <a:lstStyle/>
        <a:p>
          <a:endParaRPr lang="en-US"/>
        </a:p>
      </dgm:t>
    </dgm:pt>
    <dgm:pt modelId="{059A8EAC-7A81-4744-BF4F-82BF0FFE9431}">
      <dgm:prSet/>
      <dgm:spPr/>
      <dgm:t>
        <a:bodyPr/>
        <a:lstStyle/>
        <a:p>
          <a:r>
            <a:rPr lang="en-US"/>
            <a:t>To build and evaluate robust machine learning models for binary sentiment classification.</a:t>
          </a:r>
        </a:p>
      </dgm:t>
    </dgm:pt>
    <dgm:pt modelId="{7C42DE5A-EFB7-42DC-9C7C-F72C3B8AA1D3}" type="parTrans" cxnId="{8141DF3A-BCF5-4B83-8D05-EF746C034D8E}">
      <dgm:prSet/>
      <dgm:spPr/>
      <dgm:t>
        <a:bodyPr/>
        <a:lstStyle/>
        <a:p>
          <a:endParaRPr lang="en-US"/>
        </a:p>
      </dgm:t>
    </dgm:pt>
    <dgm:pt modelId="{B367D493-B635-4DAD-8898-957C075C77EE}" type="sibTrans" cxnId="{8141DF3A-BCF5-4B83-8D05-EF746C034D8E}">
      <dgm:prSet/>
      <dgm:spPr/>
      <dgm:t>
        <a:bodyPr/>
        <a:lstStyle/>
        <a:p>
          <a:endParaRPr lang="en-US"/>
        </a:p>
      </dgm:t>
    </dgm:pt>
    <dgm:pt modelId="{74F43087-35C6-44F3-AF3B-B71DD649E881}">
      <dgm:prSet/>
      <dgm:spPr/>
      <dgm:t>
        <a:bodyPr/>
        <a:lstStyle/>
        <a:p>
          <a:r>
            <a:rPr lang="en-US"/>
            <a:t>To deploy the best-performing model using a lightweight Flask-based API.</a:t>
          </a:r>
        </a:p>
      </dgm:t>
    </dgm:pt>
    <dgm:pt modelId="{71D25C32-B294-4D1F-8724-170723FF1A30}" type="parTrans" cxnId="{F595CD50-B0EA-4DBF-8372-532855FA63D4}">
      <dgm:prSet/>
      <dgm:spPr/>
      <dgm:t>
        <a:bodyPr/>
        <a:lstStyle/>
        <a:p>
          <a:endParaRPr lang="en-US"/>
        </a:p>
      </dgm:t>
    </dgm:pt>
    <dgm:pt modelId="{29F4AD8E-EC06-4593-8E43-BB16697C9EA7}" type="sibTrans" cxnId="{F595CD50-B0EA-4DBF-8372-532855FA63D4}">
      <dgm:prSet/>
      <dgm:spPr/>
      <dgm:t>
        <a:bodyPr/>
        <a:lstStyle/>
        <a:p>
          <a:endParaRPr lang="en-US"/>
        </a:p>
      </dgm:t>
    </dgm:pt>
    <dgm:pt modelId="{B429D5C6-1B91-4833-BF97-C047F6E1235E}">
      <dgm:prSet/>
      <dgm:spPr/>
      <dgm:t>
        <a:bodyPr/>
        <a:lstStyle/>
        <a:p>
          <a:r>
            <a:rPr lang="en-US"/>
            <a:t>To validate the deployed model through real-time POST requests using Postman.</a:t>
          </a:r>
        </a:p>
      </dgm:t>
    </dgm:pt>
    <dgm:pt modelId="{0CB93DB3-46A5-4DE0-90A3-67EB05CA57CC}" type="parTrans" cxnId="{8A270E28-1304-48F0-9721-87ADA2261633}">
      <dgm:prSet/>
      <dgm:spPr/>
      <dgm:t>
        <a:bodyPr/>
        <a:lstStyle/>
        <a:p>
          <a:endParaRPr lang="en-US"/>
        </a:p>
      </dgm:t>
    </dgm:pt>
    <dgm:pt modelId="{00B96E53-2E8E-4796-B14C-28B132EBCA38}" type="sibTrans" cxnId="{8A270E28-1304-48F0-9721-87ADA2261633}">
      <dgm:prSet/>
      <dgm:spPr/>
      <dgm:t>
        <a:bodyPr/>
        <a:lstStyle/>
        <a:p>
          <a:endParaRPr lang="en-US"/>
        </a:p>
      </dgm:t>
    </dgm:pt>
    <dgm:pt modelId="{5AA2429F-904B-47B0-B799-205CE352650B}" type="pres">
      <dgm:prSet presAssocID="{E24C451B-38A2-4C16-81C9-1E4EE5DE9CA0}" presName="Name0" presStyleCnt="0">
        <dgm:presLayoutVars>
          <dgm:dir/>
          <dgm:resizeHandles val="exact"/>
        </dgm:presLayoutVars>
      </dgm:prSet>
      <dgm:spPr/>
    </dgm:pt>
    <dgm:pt modelId="{8006DE23-7DD0-496E-9E82-8185012E803F}" type="pres">
      <dgm:prSet presAssocID="{2D917145-CB0E-4D85-B29D-D5A07558E0C7}" presName="node" presStyleLbl="node1" presStyleIdx="0" presStyleCnt="6">
        <dgm:presLayoutVars>
          <dgm:bulletEnabled val="1"/>
        </dgm:presLayoutVars>
      </dgm:prSet>
      <dgm:spPr/>
    </dgm:pt>
    <dgm:pt modelId="{1CC1CE5E-D3BF-4D44-A918-0CA0A6F0A6B2}" type="pres">
      <dgm:prSet presAssocID="{809F9F83-75EA-4A61-BC26-8F1545FEE9E6}" presName="sibTrans" presStyleLbl="sibTrans1D1" presStyleIdx="0" presStyleCnt="5"/>
      <dgm:spPr/>
    </dgm:pt>
    <dgm:pt modelId="{2A8A9CAC-4FDE-4358-B958-4030211AF7DD}" type="pres">
      <dgm:prSet presAssocID="{809F9F83-75EA-4A61-BC26-8F1545FEE9E6}" presName="connectorText" presStyleLbl="sibTrans1D1" presStyleIdx="0" presStyleCnt="5"/>
      <dgm:spPr/>
    </dgm:pt>
    <dgm:pt modelId="{8F594DB3-9918-4433-B775-333FD4F45C04}" type="pres">
      <dgm:prSet presAssocID="{24F83BEF-5D60-4358-BA94-691725505303}" presName="node" presStyleLbl="node1" presStyleIdx="1" presStyleCnt="6">
        <dgm:presLayoutVars>
          <dgm:bulletEnabled val="1"/>
        </dgm:presLayoutVars>
      </dgm:prSet>
      <dgm:spPr/>
    </dgm:pt>
    <dgm:pt modelId="{876239EF-2F4F-4853-BAE3-5C2A86CED436}" type="pres">
      <dgm:prSet presAssocID="{41D2A598-A09D-43F3-AAA0-E2C5DD5AFD5B}" presName="sibTrans" presStyleLbl="sibTrans1D1" presStyleIdx="1" presStyleCnt="5"/>
      <dgm:spPr/>
    </dgm:pt>
    <dgm:pt modelId="{87212242-2691-47CF-8103-3DFBED309E7D}" type="pres">
      <dgm:prSet presAssocID="{41D2A598-A09D-43F3-AAA0-E2C5DD5AFD5B}" presName="connectorText" presStyleLbl="sibTrans1D1" presStyleIdx="1" presStyleCnt="5"/>
      <dgm:spPr/>
    </dgm:pt>
    <dgm:pt modelId="{4060AEC6-D0EB-4608-9ED5-C83C03D6FF91}" type="pres">
      <dgm:prSet presAssocID="{BB9CBC50-BAEE-4908-9930-991F742FFE95}" presName="node" presStyleLbl="node1" presStyleIdx="2" presStyleCnt="6">
        <dgm:presLayoutVars>
          <dgm:bulletEnabled val="1"/>
        </dgm:presLayoutVars>
      </dgm:prSet>
      <dgm:spPr/>
    </dgm:pt>
    <dgm:pt modelId="{4AA06F7F-6871-4DF5-9FA9-0BDF115BAA3D}" type="pres">
      <dgm:prSet presAssocID="{B3F5A8E7-EBF3-4306-8EC6-8EF985EFAFB6}" presName="sibTrans" presStyleLbl="sibTrans1D1" presStyleIdx="2" presStyleCnt="5"/>
      <dgm:spPr/>
    </dgm:pt>
    <dgm:pt modelId="{B071D1C4-8B0B-41F2-A813-7AEECA8E8BC7}" type="pres">
      <dgm:prSet presAssocID="{B3F5A8E7-EBF3-4306-8EC6-8EF985EFAFB6}" presName="connectorText" presStyleLbl="sibTrans1D1" presStyleIdx="2" presStyleCnt="5"/>
      <dgm:spPr/>
    </dgm:pt>
    <dgm:pt modelId="{48AFB95E-8B35-4E50-B5D3-86C74DE72E30}" type="pres">
      <dgm:prSet presAssocID="{059A8EAC-7A81-4744-BF4F-82BF0FFE9431}" presName="node" presStyleLbl="node1" presStyleIdx="3" presStyleCnt="6">
        <dgm:presLayoutVars>
          <dgm:bulletEnabled val="1"/>
        </dgm:presLayoutVars>
      </dgm:prSet>
      <dgm:spPr/>
    </dgm:pt>
    <dgm:pt modelId="{068379E8-3150-4516-BB7C-146BE51F8C20}" type="pres">
      <dgm:prSet presAssocID="{B367D493-B635-4DAD-8898-957C075C77EE}" presName="sibTrans" presStyleLbl="sibTrans1D1" presStyleIdx="3" presStyleCnt="5"/>
      <dgm:spPr/>
    </dgm:pt>
    <dgm:pt modelId="{3E707882-31C7-4BDA-B4ED-3DFEFFDE7C04}" type="pres">
      <dgm:prSet presAssocID="{B367D493-B635-4DAD-8898-957C075C77EE}" presName="connectorText" presStyleLbl="sibTrans1D1" presStyleIdx="3" presStyleCnt="5"/>
      <dgm:spPr/>
    </dgm:pt>
    <dgm:pt modelId="{1CD4876C-29FC-4FAF-A600-69091416C198}" type="pres">
      <dgm:prSet presAssocID="{74F43087-35C6-44F3-AF3B-B71DD649E881}" presName="node" presStyleLbl="node1" presStyleIdx="4" presStyleCnt="6">
        <dgm:presLayoutVars>
          <dgm:bulletEnabled val="1"/>
        </dgm:presLayoutVars>
      </dgm:prSet>
      <dgm:spPr/>
    </dgm:pt>
    <dgm:pt modelId="{E95405D9-4FFF-42C2-AC60-AD69F0E7BF1B}" type="pres">
      <dgm:prSet presAssocID="{29F4AD8E-EC06-4593-8E43-BB16697C9EA7}" presName="sibTrans" presStyleLbl="sibTrans1D1" presStyleIdx="4" presStyleCnt="5"/>
      <dgm:spPr/>
    </dgm:pt>
    <dgm:pt modelId="{99E315FD-4BA3-47AD-82AF-EA7F97C7273E}" type="pres">
      <dgm:prSet presAssocID="{29F4AD8E-EC06-4593-8E43-BB16697C9EA7}" presName="connectorText" presStyleLbl="sibTrans1D1" presStyleIdx="4" presStyleCnt="5"/>
      <dgm:spPr/>
    </dgm:pt>
    <dgm:pt modelId="{56C2BBB7-64D3-4A0A-B6A8-D1DAE3FF572C}" type="pres">
      <dgm:prSet presAssocID="{B429D5C6-1B91-4833-BF97-C047F6E1235E}" presName="node" presStyleLbl="node1" presStyleIdx="5" presStyleCnt="6">
        <dgm:presLayoutVars>
          <dgm:bulletEnabled val="1"/>
        </dgm:presLayoutVars>
      </dgm:prSet>
      <dgm:spPr/>
    </dgm:pt>
  </dgm:ptLst>
  <dgm:cxnLst>
    <dgm:cxn modelId="{D9A6A705-EDCC-4C16-B2A1-65385B55D23B}" type="presOf" srcId="{B429D5C6-1B91-4833-BF97-C047F6E1235E}" destId="{56C2BBB7-64D3-4A0A-B6A8-D1DAE3FF572C}" srcOrd="0" destOrd="0" presId="urn:microsoft.com/office/officeart/2016/7/layout/RepeatingBendingProcessNew"/>
    <dgm:cxn modelId="{8EC60809-4E42-4598-A4FE-7F787C5053A3}" type="presOf" srcId="{B3F5A8E7-EBF3-4306-8EC6-8EF985EFAFB6}" destId="{B071D1C4-8B0B-41F2-A813-7AEECA8E8BC7}" srcOrd="1" destOrd="0" presId="urn:microsoft.com/office/officeart/2016/7/layout/RepeatingBendingProcessNew"/>
    <dgm:cxn modelId="{8A270E28-1304-48F0-9721-87ADA2261633}" srcId="{E24C451B-38A2-4C16-81C9-1E4EE5DE9CA0}" destId="{B429D5C6-1B91-4833-BF97-C047F6E1235E}" srcOrd="5" destOrd="0" parTransId="{0CB93DB3-46A5-4DE0-90A3-67EB05CA57CC}" sibTransId="{00B96E53-2E8E-4796-B14C-28B132EBCA38}"/>
    <dgm:cxn modelId="{0CD9EA33-E468-40A7-B0B6-7933240A3D56}" srcId="{E24C451B-38A2-4C16-81C9-1E4EE5DE9CA0}" destId="{2D917145-CB0E-4D85-B29D-D5A07558E0C7}" srcOrd="0" destOrd="0" parTransId="{2F5DD6F4-8BA7-4C36-B59D-ACC3CF3CEC45}" sibTransId="{809F9F83-75EA-4A61-BC26-8F1545FEE9E6}"/>
    <dgm:cxn modelId="{979D2435-2391-48CE-A92A-EBD2C0DCAE12}" type="presOf" srcId="{E24C451B-38A2-4C16-81C9-1E4EE5DE9CA0}" destId="{5AA2429F-904B-47B0-B799-205CE352650B}" srcOrd="0" destOrd="0" presId="urn:microsoft.com/office/officeart/2016/7/layout/RepeatingBendingProcessNew"/>
    <dgm:cxn modelId="{8141DF3A-BCF5-4B83-8D05-EF746C034D8E}" srcId="{E24C451B-38A2-4C16-81C9-1E4EE5DE9CA0}" destId="{059A8EAC-7A81-4744-BF4F-82BF0FFE9431}" srcOrd="3" destOrd="0" parTransId="{7C42DE5A-EFB7-42DC-9C7C-F72C3B8AA1D3}" sibTransId="{B367D493-B635-4DAD-8898-957C075C77EE}"/>
    <dgm:cxn modelId="{6B77855D-1559-4597-8651-EA3D1FA9DB10}" type="presOf" srcId="{24F83BEF-5D60-4358-BA94-691725505303}" destId="{8F594DB3-9918-4433-B775-333FD4F45C04}" srcOrd="0" destOrd="0" presId="urn:microsoft.com/office/officeart/2016/7/layout/RepeatingBendingProcessNew"/>
    <dgm:cxn modelId="{8AB23361-89F7-4E9D-83D0-DC84B9811086}" srcId="{E24C451B-38A2-4C16-81C9-1E4EE5DE9CA0}" destId="{24F83BEF-5D60-4358-BA94-691725505303}" srcOrd="1" destOrd="0" parTransId="{13BBE88A-7D77-41F4-BAE0-CCFB3933A6A0}" sibTransId="{41D2A598-A09D-43F3-AAA0-E2C5DD5AFD5B}"/>
    <dgm:cxn modelId="{BC704E48-AB3C-46ED-9768-F044356AAAE8}" type="presOf" srcId="{B367D493-B635-4DAD-8898-957C075C77EE}" destId="{068379E8-3150-4516-BB7C-146BE51F8C20}" srcOrd="0" destOrd="0" presId="urn:microsoft.com/office/officeart/2016/7/layout/RepeatingBendingProcessNew"/>
    <dgm:cxn modelId="{A8D9AF6A-66AA-4B20-AFE8-FA19D465C3CB}" type="presOf" srcId="{B3F5A8E7-EBF3-4306-8EC6-8EF985EFAFB6}" destId="{4AA06F7F-6871-4DF5-9FA9-0BDF115BAA3D}" srcOrd="0" destOrd="0" presId="urn:microsoft.com/office/officeart/2016/7/layout/RepeatingBendingProcessNew"/>
    <dgm:cxn modelId="{F595CD50-B0EA-4DBF-8372-532855FA63D4}" srcId="{E24C451B-38A2-4C16-81C9-1E4EE5DE9CA0}" destId="{74F43087-35C6-44F3-AF3B-B71DD649E881}" srcOrd="4" destOrd="0" parTransId="{71D25C32-B294-4D1F-8724-170723FF1A30}" sibTransId="{29F4AD8E-EC06-4593-8E43-BB16697C9EA7}"/>
    <dgm:cxn modelId="{215CB87E-D43A-43D6-8B00-DBCF82B4EEF3}" type="presOf" srcId="{059A8EAC-7A81-4744-BF4F-82BF0FFE9431}" destId="{48AFB95E-8B35-4E50-B5D3-86C74DE72E30}" srcOrd="0" destOrd="0" presId="urn:microsoft.com/office/officeart/2016/7/layout/RepeatingBendingProcessNew"/>
    <dgm:cxn modelId="{813CA195-F7DC-46C3-A0B3-A4DEFE515D6E}" type="presOf" srcId="{2D917145-CB0E-4D85-B29D-D5A07558E0C7}" destId="{8006DE23-7DD0-496E-9E82-8185012E803F}" srcOrd="0" destOrd="0" presId="urn:microsoft.com/office/officeart/2016/7/layout/RepeatingBendingProcessNew"/>
    <dgm:cxn modelId="{5E22279B-054C-4B9C-8926-78B07615DE17}" type="presOf" srcId="{809F9F83-75EA-4A61-BC26-8F1545FEE9E6}" destId="{2A8A9CAC-4FDE-4358-B958-4030211AF7DD}" srcOrd="1" destOrd="0" presId="urn:microsoft.com/office/officeart/2016/7/layout/RepeatingBendingProcessNew"/>
    <dgm:cxn modelId="{D61054A3-D3F0-4219-AAE4-94C45CB3A540}" type="presOf" srcId="{41D2A598-A09D-43F3-AAA0-E2C5DD5AFD5B}" destId="{87212242-2691-47CF-8103-3DFBED309E7D}" srcOrd="1" destOrd="0" presId="urn:microsoft.com/office/officeart/2016/7/layout/RepeatingBendingProcessNew"/>
    <dgm:cxn modelId="{85756DB5-9DCA-41EE-AEF3-C9277D96A0B9}" type="presOf" srcId="{41D2A598-A09D-43F3-AAA0-E2C5DD5AFD5B}" destId="{876239EF-2F4F-4853-BAE3-5C2A86CED436}" srcOrd="0" destOrd="0" presId="urn:microsoft.com/office/officeart/2016/7/layout/RepeatingBendingProcessNew"/>
    <dgm:cxn modelId="{FE02DFC1-8AB1-4227-AF9C-2D629EF271AA}" type="presOf" srcId="{B367D493-B635-4DAD-8898-957C075C77EE}" destId="{3E707882-31C7-4BDA-B4ED-3DFEFFDE7C04}" srcOrd="1" destOrd="0" presId="urn:microsoft.com/office/officeart/2016/7/layout/RepeatingBendingProcessNew"/>
    <dgm:cxn modelId="{68A7FFCC-2BA8-4E1A-AD77-5D8D8AFD84AB}" type="presOf" srcId="{29F4AD8E-EC06-4593-8E43-BB16697C9EA7}" destId="{E95405D9-4FFF-42C2-AC60-AD69F0E7BF1B}" srcOrd="0" destOrd="0" presId="urn:microsoft.com/office/officeart/2016/7/layout/RepeatingBendingProcessNew"/>
    <dgm:cxn modelId="{9C080DCD-FF5A-4DD9-A693-47F40892C349}" type="presOf" srcId="{BB9CBC50-BAEE-4908-9930-991F742FFE95}" destId="{4060AEC6-D0EB-4608-9ED5-C83C03D6FF91}" srcOrd="0" destOrd="0" presId="urn:microsoft.com/office/officeart/2016/7/layout/RepeatingBendingProcessNew"/>
    <dgm:cxn modelId="{60E306DD-08A8-4DAE-AD4B-1374B04661EA}" srcId="{E24C451B-38A2-4C16-81C9-1E4EE5DE9CA0}" destId="{BB9CBC50-BAEE-4908-9930-991F742FFE95}" srcOrd="2" destOrd="0" parTransId="{3E777B5C-E4B5-43F2-942A-F8C8EB7BB41D}" sibTransId="{B3F5A8E7-EBF3-4306-8EC6-8EF985EFAFB6}"/>
    <dgm:cxn modelId="{02A0BFDE-C112-4143-9F89-8310B39431D4}" type="presOf" srcId="{29F4AD8E-EC06-4593-8E43-BB16697C9EA7}" destId="{99E315FD-4BA3-47AD-82AF-EA7F97C7273E}" srcOrd="1" destOrd="0" presId="urn:microsoft.com/office/officeart/2016/7/layout/RepeatingBendingProcessNew"/>
    <dgm:cxn modelId="{702F26E9-7084-4EF5-821D-65E081592031}" type="presOf" srcId="{809F9F83-75EA-4A61-BC26-8F1545FEE9E6}" destId="{1CC1CE5E-D3BF-4D44-A918-0CA0A6F0A6B2}" srcOrd="0" destOrd="0" presId="urn:microsoft.com/office/officeart/2016/7/layout/RepeatingBendingProcessNew"/>
    <dgm:cxn modelId="{DA0404F3-C61A-437B-B0D1-7D0812C71512}" type="presOf" srcId="{74F43087-35C6-44F3-AF3B-B71DD649E881}" destId="{1CD4876C-29FC-4FAF-A600-69091416C198}" srcOrd="0" destOrd="0" presId="urn:microsoft.com/office/officeart/2016/7/layout/RepeatingBendingProcessNew"/>
    <dgm:cxn modelId="{CAB71DC4-CE29-48D0-91B3-BCE0E118F18D}" type="presParOf" srcId="{5AA2429F-904B-47B0-B799-205CE352650B}" destId="{8006DE23-7DD0-496E-9E82-8185012E803F}" srcOrd="0" destOrd="0" presId="urn:microsoft.com/office/officeart/2016/7/layout/RepeatingBendingProcessNew"/>
    <dgm:cxn modelId="{7E120FF5-3246-472A-B33F-143758AB274A}" type="presParOf" srcId="{5AA2429F-904B-47B0-B799-205CE352650B}" destId="{1CC1CE5E-D3BF-4D44-A918-0CA0A6F0A6B2}" srcOrd="1" destOrd="0" presId="urn:microsoft.com/office/officeart/2016/7/layout/RepeatingBendingProcessNew"/>
    <dgm:cxn modelId="{E03526CD-22FA-4454-A95D-17C97FEC5751}" type="presParOf" srcId="{1CC1CE5E-D3BF-4D44-A918-0CA0A6F0A6B2}" destId="{2A8A9CAC-4FDE-4358-B958-4030211AF7DD}" srcOrd="0" destOrd="0" presId="urn:microsoft.com/office/officeart/2016/7/layout/RepeatingBendingProcessNew"/>
    <dgm:cxn modelId="{291A1F64-EBD6-4BA1-8EF8-DEDC5A8CD13F}" type="presParOf" srcId="{5AA2429F-904B-47B0-B799-205CE352650B}" destId="{8F594DB3-9918-4433-B775-333FD4F45C04}" srcOrd="2" destOrd="0" presId="urn:microsoft.com/office/officeart/2016/7/layout/RepeatingBendingProcessNew"/>
    <dgm:cxn modelId="{551B05B2-FB9E-4669-A896-C8C389772B78}" type="presParOf" srcId="{5AA2429F-904B-47B0-B799-205CE352650B}" destId="{876239EF-2F4F-4853-BAE3-5C2A86CED436}" srcOrd="3" destOrd="0" presId="urn:microsoft.com/office/officeart/2016/7/layout/RepeatingBendingProcessNew"/>
    <dgm:cxn modelId="{9678B163-A3EE-40FD-92CA-655CB05F21F3}" type="presParOf" srcId="{876239EF-2F4F-4853-BAE3-5C2A86CED436}" destId="{87212242-2691-47CF-8103-3DFBED309E7D}" srcOrd="0" destOrd="0" presId="urn:microsoft.com/office/officeart/2016/7/layout/RepeatingBendingProcessNew"/>
    <dgm:cxn modelId="{56824E21-1615-42E3-97D2-4442B87C730D}" type="presParOf" srcId="{5AA2429F-904B-47B0-B799-205CE352650B}" destId="{4060AEC6-D0EB-4608-9ED5-C83C03D6FF91}" srcOrd="4" destOrd="0" presId="urn:microsoft.com/office/officeart/2016/7/layout/RepeatingBendingProcessNew"/>
    <dgm:cxn modelId="{65A1414B-4E97-40BF-9BA6-499A009ED780}" type="presParOf" srcId="{5AA2429F-904B-47B0-B799-205CE352650B}" destId="{4AA06F7F-6871-4DF5-9FA9-0BDF115BAA3D}" srcOrd="5" destOrd="0" presId="urn:microsoft.com/office/officeart/2016/7/layout/RepeatingBendingProcessNew"/>
    <dgm:cxn modelId="{5CFE6C26-A793-40DA-9C04-AD2E061F525B}" type="presParOf" srcId="{4AA06F7F-6871-4DF5-9FA9-0BDF115BAA3D}" destId="{B071D1C4-8B0B-41F2-A813-7AEECA8E8BC7}" srcOrd="0" destOrd="0" presId="urn:microsoft.com/office/officeart/2016/7/layout/RepeatingBendingProcessNew"/>
    <dgm:cxn modelId="{17B65A6B-B910-457E-A6AC-AFBDA16522F6}" type="presParOf" srcId="{5AA2429F-904B-47B0-B799-205CE352650B}" destId="{48AFB95E-8B35-4E50-B5D3-86C74DE72E30}" srcOrd="6" destOrd="0" presId="urn:microsoft.com/office/officeart/2016/7/layout/RepeatingBendingProcessNew"/>
    <dgm:cxn modelId="{294CE9B6-444F-4164-80F0-6594E2E15423}" type="presParOf" srcId="{5AA2429F-904B-47B0-B799-205CE352650B}" destId="{068379E8-3150-4516-BB7C-146BE51F8C20}" srcOrd="7" destOrd="0" presId="urn:microsoft.com/office/officeart/2016/7/layout/RepeatingBendingProcessNew"/>
    <dgm:cxn modelId="{59CDA336-C2E2-4770-A29E-5BA773758D28}" type="presParOf" srcId="{068379E8-3150-4516-BB7C-146BE51F8C20}" destId="{3E707882-31C7-4BDA-B4ED-3DFEFFDE7C04}" srcOrd="0" destOrd="0" presId="urn:microsoft.com/office/officeart/2016/7/layout/RepeatingBendingProcessNew"/>
    <dgm:cxn modelId="{337D9B75-E75D-4377-B645-24657AC42E1A}" type="presParOf" srcId="{5AA2429F-904B-47B0-B799-205CE352650B}" destId="{1CD4876C-29FC-4FAF-A600-69091416C198}" srcOrd="8" destOrd="0" presId="urn:microsoft.com/office/officeart/2016/7/layout/RepeatingBendingProcessNew"/>
    <dgm:cxn modelId="{40A1A580-2902-4A00-90EF-09EADE6B0098}" type="presParOf" srcId="{5AA2429F-904B-47B0-B799-205CE352650B}" destId="{E95405D9-4FFF-42C2-AC60-AD69F0E7BF1B}" srcOrd="9" destOrd="0" presId="urn:microsoft.com/office/officeart/2016/7/layout/RepeatingBendingProcessNew"/>
    <dgm:cxn modelId="{9FF0814B-B44B-4CAD-8271-243FD502F281}" type="presParOf" srcId="{E95405D9-4FFF-42C2-AC60-AD69F0E7BF1B}" destId="{99E315FD-4BA3-47AD-82AF-EA7F97C7273E}" srcOrd="0" destOrd="0" presId="urn:microsoft.com/office/officeart/2016/7/layout/RepeatingBendingProcessNew"/>
    <dgm:cxn modelId="{10662A37-C732-40CF-BFB1-A1A7344CD1BD}" type="presParOf" srcId="{5AA2429F-904B-47B0-B799-205CE352650B}" destId="{56C2BBB7-64D3-4A0A-B6A8-D1DAE3FF572C}" srcOrd="10"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19D193A-0466-4720-B715-BE145DF8B7E6}"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04B67BF7-D67D-4E2A-8C94-0FA684E25E0C}">
      <dgm:prSet/>
      <dgm:spPr/>
      <dgm:t>
        <a:bodyPr/>
        <a:lstStyle/>
        <a:p>
          <a:r>
            <a:rPr lang="en-US"/>
            <a:t>Raw tweets contain a lot of noise such as user mentions, hashtags, URLs, emojis, and other special characters. Our cleaning process involved several steps:</a:t>
          </a:r>
        </a:p>
      </dgm:t>
    </dgm:pt>
    <dgm:pt modelId="{ACDA75C3-CF28-4E60-BBCC-D2B36414B0DC}" type="parTrans" cxnId="{EF871DE0-16F0-4BA7-8942-83009153143B}">
      <dgm:prSet/>
      <dgm:spPr/>
      <dgm:t>
        <a:bodyPr/>
        <a:lstStyle/>
        <a:p>
          <a:endParaRPr lang="en-US"/>
        </a:p>
      </dgm:t>
    </dgm:pt>
    <dgm:pt modelId="{0BD3BC7E-8B5E-4AEC-9338-9E7958643399}" type="sibTrans" cxnId="{EF871DE0-16F0-4BA7-8942-83009153143B}">
      <dgm:prSet/>
      <dgm:spPr/>
      <dgm:t>
        <a:bodyPr/>
        <a:lstStyle/>
        <a:p>
          <a:endParaRPr lang="en-US"/>
        </a:p>
      </dgm:t>
    </dgm:pt>
    <dgm:pt modelId="{5F64CE87-2A4B-4FC9-B928-8A9E19702587}">
      <dgm:prSet/>
      <dgm:spPr/>
      <dgm:t>
        <a:bodyPr/>
        <a:lstStyle/>
        <a:p>
          <a:r>
            <a:rPr lang="en-US"/>
            <a:t>Removing URLs and hyperlinks using regular expressions.</a:t>
          </a:r>
        </a:p>
      </dgm:t>
    </dgm:pt>
    <dgm:pt modelId="{70B766BC-2692-4E94-836E-7053F67200C0}" type="parTrans" cxnId="{69C812C8-751D-41F3-A80F-A379FF77EC57}">
      <dgm:prSet/>
      <dgm:spPr/>
      <dgm:t>
        <a:bodyPr/>
        <a:lstStyle/>
        <a:p>
          <a:endParaRPr lang="en-US"/>
        </a:p>
      </dgm:t>
    </dgm:pt>
    <dgm:pt modelId="{3F8BD9D5-DB15-493A-A0EF-DCBDF509DD0B}" type="sibTrans" cxnId="{69C812C8-751D-41F3-A80F-A379FF77EC57}">
      <dgm:prSet/>
      <dgm:spPr/>
      <dgm:t>
        <a:bodyPr/>
        <a:lstStyle/>
        <a:p>
          <a:endParaRPr lang="en-US"/>
        </a:p>
      </dgm:t>
    </dgm:pt>
    <dgm:pt modelId="{3570056A-36BF-47FA-BF5C-04138D5655F2}">
      <dgm:prSet/>
      <dgm:spPr/>
      <dgm:t>
        <a:bodyPr/>
        <a:lstStyle/>
        <a:p>
          <a:r>
            <a:rPr lang="en-US"/>
            <a:t>Eliminating Twitter handles (e.g., @usernames) and hashtags.</a:t>
          </a:r>
        </a:p>
      </dgm:t>
    </dgm:pt>
    <dgm:pt modelId="{BD1904DC-D2BC-4F2A-90A5-3D73EE27C6C1}" type="parTrans" cxnId="{3AC72709-2C35-4188-80CA-DA281CC5637D}">
      <dgm:prSet/>
      <dgm:spPr/>
      <dgm:t>
        <a:bodyPr/>
        <a:lstStyle/>
        <a:p>
          <a:endParaRPr lang="en-US"/>
        </a:p>
      </dgm:t>
    </dgm:pt>
    <dgm:pt modelId="{DC102DDB-59AE-4AD9-AFE2-CB1A718C47B6}" type="sibTrans" cxnId="{3AC72709-2C35-4188-80CA-DA281CC5637D}">
      <dgm:prSet/>
      <dgm:spPr/>
      <dgm:t>
        <a:bodyPr/>
        <a:lstStyle/>
        <a:p>
          <a:endParaRPr lang="en-US"/>
        </a:p>
      </dgm:t>
    </dgm:pt>
    <dgm:pt modelId="{1E651F3A-A8FB-4A3A-9B5E-67576D373A7A}">
      <dgm:prSet/>
      <dgm:spPr/>
      <dgm:t>
        <a:bodyPr/>
        <a:lstStyle/>
        <a:p>
          <a:r>
            <a:rPr lang="en-US"/>
            <a:t>Converting all text to lowercase to ensure consistency.</a:t>
          </a:r>
        </a:p>
      </dgm:t>
    </dgm:pt>
    <dgm:pt modelId="{B754C4CA-C139-4FAF-ACDA-4902960BDFC4}" type="parTrans" cxnId="{F91C4943-2650-44AA-A089-BD53F6604CAD}">
      <dgm:prSet/>
      <dgm:spPr/>
      <dgm:t>
        <a:bodyPr/>
        <a:lstStyle/>
        <a:p>
          <a:endParaRPr lang="en-US"/>
        </a:p>
      </dgm:t>
    </dgm:pt>
    <dgm:pt modelId="{DC04B9C2-FB92-4FE3-8638-F423D7EE7905}" type="sibTrans" cxnId="{F91C4943-2650-44AA-A089-BD53F6604CAD}">
      <dgm:prSet/>
      <dgm:spPr/>
      <dgm:t>
        <a:bodyPr/>
        <a:lstStyle/>
        <a:p>
          <a:endParaRPr lang="en-US"/>
        </a:p>
      </dgm:t>
    </dgm:pt>
    <dgm:pt modelId="{6A6B39BC-D415-44BF-A9B1-07DE7A435449}">
      <dgm:prSet/>
      <dgm:spPr/>
      <dgm:t>
        <a:bodyPr/>
        <a:lstStyle/>
        <a:p>
          <a:r>
            <a:rPr lang="en-US"/>
            <a:t>Removing punctuation, numbers, and extra whitespace.</a:t>
          </a:r>
        </a:p>
      </dgm:t>
    </dgm:pt>
    <dgm:pt modelId="{672AAD39-4AB0-4660-A084-5919F5D4799A}" type="parTrans" cxnId="{0A7F75BF-6AB7-4C27-A664-6DBB78D47615}">
      <dgm:prSet/>
      <dgm:spPr/>
      <dgm:t>
        <a:bodyPr/>
        <a:lstStyle/>
        <a:p>
          <a:endParaRPr lang="en-US"/>
        </a:p>
      </dgm:t>
    </dgm:pt>
    <dgm:pt modelId="{47B035DD-CD51-4291-AB62-94CE6B611869}" type="sibTrans" cxnId="{0A7F75BF-6AB7-4C27-A664-6DBB78D47615}">
      <dgm:prSet/>
      <dgm:spPr/>
      <dgm:t>
        <a:bodyPr/>
        <a:lstStyle/>
        <a:p>
          <a:endParaRPr lang="en-US"/>
        </a:p>
      </dgm:t>
    </dgm:pt>
    <dgm:pt modelId="{1D5C619D-23CB-4F02-917D-AD4EC7F4AF70}">
      <dgm:prSet/>
      <dgm:spPr/>
      <dgm:t>
        <a:bodyPr/>
        <a:lstStyle/>
        <a:p>
          <a:r>
            <a:rPr lang="en-US"/>
            <a:t>Tokenizing and vectorizing the cleaned text for model input. This resulted in a cleaner, more uniform dataset ready for feature extraction.</a:t>
          </a:r>
        </a:p>
      </dgm:t>
    </dgm:pt>
    <dgm:pt modelId="{ADEF5C55-D7E2-47E0-9897-0A60DBDB33D8}" type="parTrans" cxnId="{0C8F4552-3676-4FE0-A22F-E5AFCD3E382A}">
      <dgm:prSet/>
      <dgm:spPr/>
      <dgm:t>
        <a:bodyPr/>
        <a:lstStyle/>
        <a:p>
          <a:endParaRPr lang="en-US"/>
        </a:p>
      </dgm:t>
    </dgm:pt>
    <dgm:pt modelId="{2C22DC80-F55D-43A8-9A2C-0D23E13B635D}" type="sibTrans" cxnId="{0C8F4552-3676-4FE0-A22F-E5AFCD3E382A}">
      <dgm:prSet/>
      <dgm:spPr/>
      <dgm:t>
        <a:bodyPr/>
        <a:lstStyle/>
        <a:p>
          <a:endParaRPr lang="en-US"/>
        </a:p>
      </dgm:t>
    </dgm:pt>
    <dgm:pt modelId="{F5D91C85-1C90-48BD-B349-14B3A811EEBE}" type="pres">
      <dgm:prSet presAssocID="{E19D193A-0466-4720-B715-BE145DF8B7E6}" presName="linear" presStyleCnt="0">
        <dgm:presLayoutVars>
          <dgm:animLvl val="lvl"/>
          <dgm:resizeHandles val="exact"/>
        </dgm:presLayoutVars>
      </dgm:prSet>
      <dgm:spPr/>
    </dgm:pt>
    <dgm:pt modelId="{86BC762E-950C-4546-808B-A1A6CD28EFE6}" type="pres">
      <dgm:prSet presAssocID="{04B67BF7-D67D-4E2A-8C94-0FA684E25E0C}" presName="parentText" presStyleLbl="node1" presStyleIdx="0" presStyleCnt="6">
        <dgm:presLayoutVars>
          <dgm:chMax val="0"/>
          <dgm:bulletEnabled val="1"/>
        </dgm:presLayoutVars>
      </dgm:prSet>
      <dgm:spPr/>
    </dgm:pt>
    <dgm:pt modelId="{4597EAF9-55F4-42EA-B2A9-95B7667871F0}" type="pres">
      <dgm:prSet presAssocID="{0BD3BC7E-8B5E-4AEC-9338-9E7958643399}" presName="spacer" presStyleCnt="0"/>
      <dgm:spPr/>
    </dgm:pt>
    <dgm:pt modelId="{082A5F6C-E4E7-4D94-954A-86034900C1CA}" type="pres">
      <dgm:prSet presAssocID="{5F64CE87-2A4B-4FC9-B928-8A9E19702587}" presName="parentText" presStyleLbl="node1" presStyleIdx="1" presStyleCnt="6">
        <dgm:presLayoutVars>
          <dgm:chMax val="0"/>
          <dgm:bulletEnabled val="1"/>
        </dgm:presLayoutVars>
      </dgm:prSet>
      <dgm:spPr/>
    </dgm:pt>
    <dgm:pt modelId="{5A0506D7-5AAB-47C0-AD3C-15E03FE9E36A}" type="pres">
      <dgm:prSet presAssocID="{3F8BD9D5-DB15-493A-A0EF-DCBDF509DD0B}" presName="spacer" presStyleCnt="0"/>
      <dgm:spPr/>
    </dgm:pt>
    <dgm:pt modelId="{207EC9AF-3145-4C6B-9C29-49515500CD23}" type="pres">
      <dgm:prSet presAssocID="{3570056A-36BF-47FA-BF5C-04138D5655F2}" presName="parentText" presStyleLbl="node1" presStyleIdx="2" presStyleCnt="6">
        <dgm:presLayoutVars>
          <dgm:chMax val="0"/>
          <dgm:bulletEnabled val="1"/>
        </dgm:presLayoutVars>
      </dgm:prSet>
      <dgm:spPr/>
    </dgm:pt>
    <dgm:pt modelId="{C91FD164-904B-40B8-B93F-99F625D20098}" type="pres">
      <dgm:prSet presAssocID="{DC102DDB-59AE-4AD9-AFE2-CB1A718C47B6}" presName="spacer" presStyleCnt="0"/>
      <dgm:spPr/>
    </dgm:pt>
    <dgm:pt modelId="{BEEFA181-FF8E-4C7B-B7C3-DED1E2C4CFAE}" type="pres">
      <dgm:prSet presAssocID="{1E651F3A-A8FB-4A3A-9B5E-67576D373A7A}" presName="parentText" presStyleLbl="node1" presStyleIdx="3" presStyleCnt="6">
        <dgm:presLayoutVars>
          <dgm:chMax val="0"/>
          <dgm:bulletEnabled val="1"/>
        </dgm:presLayoutVars>
      </dgm:prSet>
      <dgm:spPr/>
    </dgm:pt>
    <dgm:pt modelId="{30D579DA-6267-48C3-9C71-4CEDBC6CD917}" type="pres">
      <dgm:prSet presAssocID="{DC04B9C2-FB92-4FE3-8638-F423D7EE7905}" presName="spacer" presStyleCnt="0"/>
      <dgm:spPr/>
    </dgm:pt>
    <dgm:pt modelId="{8ADA31DD-C832-4B7E-83BF-31671209F5D5}" type="pres">
      <dgm:prSet presAssocID="{6A6B39BC-D415-44BF-A9B1-07DE7A435449}" presName="parentText" presStyleLbl="node1" presStyleIdx="4" presStyleCnt="6">
        <dgm:presLayoutVars>
          <dgm:chMax val="0"/>
          <dgm:bulletEnabled val="1"/>
        </dgm:presLayoutVars>
      </dgm:prSet>
      <dgm:spPr/>
    </dgm:pt>
    <dgm:pt modelId="{B982CB8D-BD52-42D2-A9C5-540E3A0506EA}" type="pres">
      <dgm:prSet presAssocID="{47B035DD-CD51-4291-AB62-94CE6B611869}" presName="spacer" presStyleCnt="0"/>
      <dgm:spPr/>
    </dgm:pt>
    <dgm:pt modelId="{5B1A2D0D-BA0B-4D68-92B2-E8B011AD3487}" type="pres">
      <dgm:prSet presAssocID="{1D5C619D-23CB-4F02-917D-AD4EC7F4AF70}" presName="parentText" presStyleLbl="node1" presStyleIdx="5" presStyleCnt="6">
        <dgm:presLayoutVars>
          <dgm:chMax val="0"/>
          <dgm:bulletEnabled val="1"/>
        </dgm:presLayoutVars>
      </dgm:prSet>
      <dgm:spPr/>
    </dgm:pt>
  </dgm:ptLst>
  <dgm:cxnLst>
    <dgm:cxn modelId="{399EB400-636E-4EF0-B025-ED3D11FD2E9B}" type="presOf" srcId="{6A6B39BC-D415-44BF-A9B1-07DE7A435449}" destId="{8ADA31DD-C832-4B7E-83BF-31671209F5D5}" srcOrd="0" destOrd="0" presId="urn:microsoft.com/office/officeart/2005/8/layout/vList2"/>
    <dgm:cxn modelId="{3AC72709-2C35-4188-80CA-DA281CC5637D}" srcId="{E19D193A-0466-4720-B715-BE145DF8B7E6}" destId="{3570056A-36BF-47FA-BF5C-04138D5655F2}" srcOrd="2" destOrd="0" parTransId="{BD1904DC-D2BC-4F2A-90A5-3D73EE27C6C1}" sibTransId="{DC102DDB-59AE-4AD9-AFE2-CB1A718C47B6}"/>
    <dgm:cxn modelId="{C4942A1A-2289-4E8C-8F24-413F58B8833F}" type="presOf" srcId="{3570056A-36BF-47FA-BF5C-04138D5655F2}" destId="{207EC9AF-3145-4C6B-9C29-49515500CD23}" srcOrd="0" destOrd="0" presId="urn:microsoft.com/office/officeart/2005/8/layout/vList2"/>
    <dgm:cxn modelId="{F22F275E-DCAD-4F26-902B-8E8D9949B194}" type="presOf" srcId="{E19D193A-0466-4720-B715-BE145DF8B7E6}" destId="{F5D91C85-1C90-48BD-B349-14B3A811EEBE}" srcOrd="0" destOrd="0" presId="urn:microsoft.com/office/officeart/2005/8/layout/vList2"/>
    <dgm:cxn modelId="{F91C4943-2650-44AA-A089-BD53F6604CAD}" srcId="{E19D193A-0466-4720-B715-BE145DF8B7E6}" destId="{1E651F3A-A8FB-4A3A-9B5E-67576D373A7A}" srcOrd="3" destOrd="0" parTransId="{B754C4CA-C139-4FAF-ACDA-4902960BDFC4}" sibTransId="{DC04B9C2-FB92-4FE3-8638-F423D7EE7905}"/>
    <dgm:cxn modelId="{0C8F4552-3676-4FE0-A22F-E5AFCD3E382A}" srcId="{E19D193A-0466-4720-B715-BE145DF8B7E6}" destId="{1D5C619D-23CB-4F02-917D-AD4EC7F4AF70}" srcOrd="5" destOrd="0" parTransId="{ADEF5C55-D7E2-47E0-9897-0A60DBDB33D8}" sibTransId="{2C22DC80-F55D-43A8-9A2C-0D23E13B635D}"/>
    <dgm:cxn modelId="{74EC5B88-DC98-48BD-8691-CE013B83C826}" type="presOf" srcId="{5F64CE87-2A4B-4FC9-B928-8A9E19702587}" destId="{082A5F6C-E4E7-4D94-954A-86034900C1CA}" srcOrd="0" destOrd="0" presId="urn:microsoft.com/office/officeart/2005/8/layout/vList2"/>
    <dgm:cxn modelId="{E863769F-34FA-4C27-AEA1-9E16762B7179}" type="presOf" srcId="{1E651F3A-A8FB-4A3A-9B5E-67576D373A7A}" destId="{BEEFA181-FF8E-4C7B-B7C3-DED1E2C4CFAE}" srcOrd="0" destOrd="0" presId="urn:microsoft.com/office/officeart/2005/8/layout/vList2"/>
    <dgm:cxn modelId="{1E9EDFAF-1C79-4B53-BB3C-6F96787AF1EC}" type="presOf" srcId="{1D5C619D-23CB-4F02-917D-AD4EC7F4AF70}" destId="{5B1A2D0D-BA0B-4D68-92B2-E8B011AD3487}" srcOrd="0" destOrd="0" presId="urn:microsoft.com/office/officeart/2005/8/layout/vList2"/>
    <dgm:cxn modelId="{0A7F75BF-6AB7-4C27-A664-6DBB78D47615}" srcId="{E19D193A-0466-4720-B715-BE145DF8B7E6}" destId="{6A6B39BC-D415-44BF-A9B1-07DE7A435449}" srcOrd="4" destOrd="0" parTransId="{672AAD39-4AB0-4660-A084-5919F5D4799A}" sibTransId="{47B035DD-CD51-4291-AB62-94CE6B611869}"/>
    <dgm:cxn modelId="{69C812C8-751D-41F3-A80F-A379FF77EC57}" srcId="{E19D193A-0466-4720-B715-BE145DF8B7E6}" destId="{5F64CE87-2A4B-4FC9-B928-8A9E19702587}" srcOrd="1" destOrd="0" parTransId="{70B766BC-2692-4E94-836E-7053F67200C0}" sibTransId="{3F8BD9D5-DB15-493A-A0EF-DCBDF509DD0B}"/>
    <dgm:cxn modelId="{EF871DE0-16F0-4BA7-8942-83009153143B}" srcId="{E19D193A-0466-4720-B715-BE145DF8B7E6}" destId="{04B67BF7-D67D-4E2A-8C94-0FA684E25E0C}" srcOrd="0" destOrd="0" parTransId="{ACDA75C3-CF28-4E60-BBCC-D2B36414B0DC}" sibTransId="{0BD3BC7E-8B5E-4AEC-9338-9E7958643399}"/>
    <dgm:cxn modelId="{3D9F18EC-18CD-41A4-BA76-B5F76DB5FF46}" type="presOf" srcId="{04B67BF7-D67D-4E2A-8C94-0FA684E25E0C}" destId="{86BC762E-950C-4546-808B-A1A6CD28EFE6}" srcOrd="0" destOrd="0" presId="urn:microsoft.com/office/officeart/2005/8/layout/vList2"/>
    <dgm:cxn modelId="{0095C4E3-09A1-4315-B045-19A12F99279D}" type="presParOf" srcId="{F5D91C85-1C90-48BD-B349-14B3A811EEBE}" destId="{86BC762E-950C-4546-808B-A1A6CD28EFE6}" srcOrd="0" destOrd="0" presId="urn:microsoft.com/office/officeart/2005/8/layout/vList2"/>
    <dgm:cxn modelId="{8C577249-7610-40F1-8759-E2FAA3E51A00}" type="presParOf" srcId="{F5D91C85-1C90-48BD-B349-14B3A811EEBE}" destId="{4597EAF9-55F4-42EA-B2A9-95B7667871F0}" srcOrd="1" destOrd="0" presId="urn:microsoft.com/office/officeart/2005/8/layout/vList2"/>
    <dgm:cxn modelId="{9BA1F5B2-02B8-42C4-ABB5-142F01679858}" type="presParOf" srcId="{F5D91C85-1C90-48BD-B349-14B3A811EEBE}" destId="{082A5F6C-E4E7-4D94-954A-86034900C1CA}" srcOrd="2" destOrd="0" presId="urn:microsoft.com/office/officeart/2005/8/layout/vList2"/>
    <dgm:cxn modelId="{F4A58C74-D2FF-464E-84ED-3F32F032164D}" type="presParOf" srcId="{F5D91C85-1C90-48BD-B349-14B3A811EEBE}" destId="{5A0506D7-5AAB-47C0-AD3C-15E03FE9E36A}" srcOrd="3" destOrd="0" presId="urn:microsoft.com/office/officeart/2005/8/layout/vList2"/>
    <dgm:cxn modelId="{0CE992CA-EBE9-404F-9A41-8510C5863110}" type="presParOf" srcId="{F5D91C85-1C90-48BD-B349-14B3A811EEBE}" destId="{207EC9AF-3145-4C6B-9C29-49515500CD23}" srcOrd="4" destOrd="0" presId="urn:microsoft.com/office/officeart/2005/8/layout/vList2"/>
    <dgm:cxn modelId="{CD280BF6-838B-4079-87E7-8030460F8236}" type="presParOf" srcId="{F5D91C85-1C90-48BD-B349-14B3A811EEBE}" destId="{C91FD164-904B-40B8-B93F-99F625D20098}" srcOrd="5" destOrd="0" presId="urn:microsoft.com/office/officeart/2005/8/layout/vList2"/>
    <dgm:cxn modelId="{F3774B82-2A3E-4D7F-B29B-7C82119C9789}" type="presParOf" srcId="{F5D91C85-1C90-48BD-B349-14B3A811EEBE}" destId="{BEEFA181-FF8E-4C7B-B7C3-DED1E2C4CFAE}" srcOrd="6" destOrd="0" presId="urn:microsoft.com/office/officeart/2005/8/layout/vList2"/>
    <dgm:cxn modelId="{B0A4D7B9-0703-46BD-8AB2-0DDA35D70D11}" type="presParOf" srcId="{F5D91C85-1C90-48BD-B349-14B3A811EEBE}" destId="{30D579DA-6267-48C3-9C71-4CEDBC6CD917}" srcOrd="7" destOrd="0" presId="urn:microsoft.com/office/officeart/2005/8/layout/vList2"/>
    <dgm:cxn modelId="{BD3D5939-560D-47E2-B990-5BE43163860F}" type="presParOf" srcId="{F5D91C85-1C90-48BD-B349-14B3A811EEBE}" destId="{8ADA31DD-C832-4B7E-83BF-31671209F5D5}" srcOrd="8" destOrd="0" presId="urn:microsoft.com/office/officeart/2005/8/layout/vList2"/>
    <dgm:cxn modelId="{542C5644-9A0E-4890-BBB8-236B81155748}" type="presParOf" srcId="{F5D91C85-1C90-48BD-B349-14B3A811EEBE}" destId="{B982CB8D-BD52-42D2-A9C5-540E3A0506EA}" srcOrd="9" destOrd="0" presId="urn:microsoft.com/office/officeart/2005/8/layout/vList2"/>
    <dgm:cxn modelId="{68F1E86E-FC02-4FD9-8E82-F64A9DD48184}" type="presParOf" srcId="{F5D91C85-1C90-48BD-B349-14B3A811EEBE}" destId="{5B1A2D0D-BA0B-4D68-92B2-E8B011AD3487}"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86352EA-8CA3-4EB8-A498-45B82AEE101C}"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2A770897-20F5-49D7-B0C7-E32A1D0E7966}">
      <dgm:prSet/>
      <dgm:spPr/>
      <dgm:t>
        <a:bodyPr/>
        <a:lstStyle/>
        <a:p>
          <a:pPr>
            <a:lnSpc>
              <a:spcPct val="100000"/>
            </a:lnSpc>
          </a:pPr>
          <a:r>
            <a:rPr lang="en-US"/>
            <a:t>Logistic Regression showed better performance than Naive Bayes.</a:t>
          </a:r>
        </a:p>
      </dgm:t>
    </dgm:pt>
    <dgm:pt modelId="{633F0BB4-3439-4CD5-8453-5413468E96EC}" type="parTrans" cxnId="{5F495619-81B7-4FBD-9D3A-B2024888BB61}">
      <dgm:prSet/>
      <dgm:spPr/>
      <dgm:t>
        <a:bodyPr/>
        <a:lstStyle/>
        <a:p>
          <a:endParaRPr lang="en-US"/>
        </a:p>
      </dgm:t>
    </dgm:pt>
    <dgm:pt modelId="{D5C0600A-D677-48E4-941C-82EBFD83691F}" type="sibTrans" cxnId="{5F495619-81B7-4FBD-9D3A-B2024888BB61}">
      <dgm:prSet/>
      <dgm:spPr/>
      <dgm:t>
        <a:bodyPr/>
        <a:lstStyle/>
        <a:p>
          <a:pPr>
            <a:lnSpc>
              <a:spcPct val="100000"/>
            </a:lnSpc>
          </a:pPr>
          <a:endParaRPr lang="en-US"/>
        </a:p>
      </dgm:t>
    </dgm:pt>
    <dgm:pt modelId="{6DBCD54A-DB3E-4696-A694-4E25769AF5AE}">
      <dgm:prSet/>
      <dgm:spPr/>
      <dgm:t>
        <a:bodyPr/>
        <a:lstStyle/>
        <a:p>
          <a:pPr>
            <a:lnSpc>
              <a:spcPct val="100000"/>
            </a:lnSpc>
          </a:pPr>
          <a:r>
            <a:rPr lang="en-US"/>
            <a:t>F1-scores and accuracy remained consistent across multiple validation runs.</a:t>
          </a:r>
        </a:p>
      </dgm:t>
    </dgm:pt>
    <dgm:pt modelId="{11A9C6F5-706F-4931-9FA6-EF582B0C3054}" type="parTrans" cxnId="{180C173F-006B-408C-9E52-88B91E73E11D}">
      <dgm:prSet/>
      <dgm:spPr/>
      <dgm:t>
        <a:bodyPr/>
        <a:lstStyle/>
        <a:p>
          <a:endParaRPr lang="en-US"/>
        </a:p>
      </dgm:t>
    </dgm:pt>
    <dgm:pt modelId="{3787DAFA-04F6-4867-BA55-4D86C0E5E66F}" type="sibTrans" cxnId="{180C173F-006B-408C-9E52-88B91E73E11D}">
      <dgm:prSet/>
      <dgm:spPr/>
      <dgm:t>
        <a:bodyPr/>
        <a:lstStyle/>
        <a:p>
          <a:pPr>
            <a:lnSpc>
              <a:spcPct val="100000"/>
            </a:lnSpc>
          </a:pPr>
          <a:endParaRPr lang="en-US"/>
        </a:p>
      </dgm:t>
    </dgm:pt>
    <dgm:pt modelId="{4AAB8D11-88B0-4622-8F08-7AF7E2F57B3C}">
      <dgm:prSet/>
      <dgm:spPr/>
      <dgm:t>
        <a:bodyPr/>
        <a:lstStyle/>
        <a:p>
          <a:pPr>
            <a:lnSpc>
              <a:spcPct val="100000"/>
            </a:lnSpc>
          </a:pPr>
          <a:r>
            <a:rPr lang="en-US"/>
            <a:t>EDA provided meaningful insight into the linguistic structure of tweets.</a:t>
          </a:r>
        </a:p>
      </dgm:t>
    </dgm:pt>
    <dgm:pt modelId="{9FBC926E-5A53-4BE7-A235-A594D29769BE}" type="parTrans" cxnId="{7CFC7456-B2F1-4F98-B76C-B73BA75D7E59}">
      <dgm:prSet/>
      <dgm:spPr/>
      <dgm:t>
        <a:bodyPr/>
        <a:lstStyle/>
        <a:p>
          <a:endParaRPr lang="en-US"/>
        </a:p>
      </dgm:t>
    </dgm:pt>
    <dgm:pt modelId="{B4758DCF-5E81-4BDE-B525-AFFDCFC004EB}" type="sibTrans" cxnId="{7CFC7456-B2F1-4F98-B76C-B73BA75D7E59}">
      <dgm:prSet/>
      <dgm:spPr/>
      <dgm:t>
        <a:bodyPr/>
        <a:lstStyle/>
        <a:p>
          <a:pPr>
            <a:lnSpc>
              <a:spcPct val="100000"/>
            </a:lnSpc>
          </a:pPr>
          <a:endParaRPr lang="en-US"/>
        </a:p>
      </dgm:t>
    </dgm:pt>
    <dgm:pt modelId="{100814EC-79C0-42C8-B573-F80605C4D34B}">
      <dgm:prSet/>
      <dgm:spPr/>
      <dgm:t>
        <a:bodyPr/>
        <a:lstStyle/>
        <a:p>
          <a:pPr>
            <a:lnSpc>
              <a:spcPct val="100000"/>
            </a:lnSpc>
          </a:pPr>
          <a:r>
            <a:rPr lang="en-US"/>
            <a:t>Postman testing confirmed the Flask app was responsive and reliable.</a:t>
          </a:r>
        </a:p>
      </dgm:t>
    </dgm:pt>
    <dgm:pt modelId="{19331D47-EFEA-41C5-A57D-DAAB99C93126}" type="parTrans" cxnId="{765CA549-4118-4822-9A3D-5C23F34332C2}">
      <dgm:prSet/>
      <dgm:spPr/>
      <dgm:t>
        <a:bodyPr/>
        <a:lstStyle/>
        <a:p>
          <a:endParaRPr lang="en-US"/>
        </a:p>
      </dgm:t>
    </dgm:pt>
    <dgm:pt modelId="{2B39CE62-1823-42B0-B765-984090DECAB6}" type="sibTrans" cxnId="{765CA549-4118-4822-9A3D-5C23F34332C2}">
      <dgm:prSet/>
      <dgm:spPr/>
      <dgm:t>
        <a:bodyPr/>
        <a:lstStyle/>
        <a:p>
          <a:pPr>
            <a:lnSpc>
              <a:spcPct val="100000"/>
            </a:lnSpc>
          </a:pPr>
          <a:endParaRPr lang="en-US"/>
        </a:p>
      </dgm:t>
    </dgm:pt>
    <dgm:pt modelId="{BF81334C-E236-433B-AD65-B4450EF9BBAC}">
      <dgm:prSet/>
      <dgm:spPr/>
      <dgm:t>
        <a:bodyPr/>
        <a:lstStyle/>
        <a:p>
          <a:pPr>
            <a:lnSpc>
              <a:spcPct val="100000"/>
            </a:lnSpc>
          </a:pPr>
          <a:r>
            <a:rPr lang="en-US"/>
            <a:t>The system is lightweight and can easily be scaled or deployed online.</a:t>
          </a:r>
        </a:p>
      </dgm:t>
    </dgm:pt>
    <dgm:pt modelId="{D18DAF85-5A31-441D-B0D6-94461A64AF1C}" type="parTrans" cxnId="{74387733-46EC-403A-BE03-5B40D0FCB12F}">
      <dgm:prSet/>
      <dgm:spPr/>
      <dgm:t>
        <a:bodyPr/>
        <a:lstStyle/>
        <a:p>
          <a:endParaRPr lang="en-US"/>
        </a:p>
      </dgm:t>
    </dgm:pt>
    <dgm:pt modelId="{27911D3C-340C-45C4-8647-9C703F5DEC47}" type="sibTrans" cxnId="{74387733-46EC-403A-BE03-5B40D0FCB12F}">
      <dgm:prSet/>
      <dgm:spPr/>
      <dgm:t>
        <a:bodyPr/>
        <a:lstStyle/>
        <a:p>
          <a:endParaRPr lang="en-US"/>
        </a:p>
      </dgm:t>
    </dgm:pt>
    <dgm:pt modelId="{9BB7B88B-E9E0-43E7-9405-6008A4023BCF}" type="pres">
      <dgm:prSet presAssocID="{B86352EA-8CA3-4EB8-A498-45B82AEE101C}" presName="root" presStyleCnt="0">
        <dgm:presLayoutVars>
          <dgm:dir/>
          <dgm:resizeHandles val="exact"/>
        </dgm:presLayoutVars>
      </dgm:prSet>
      <dgm:spPr/>
    </dgm:pt>
    <dgm:pt modelId="{534EF7E4-DCFF-46EE-9B92-D3668B5466BC}" type="pres">
      <dgm:prSet presAssocID="{B86352EA-8CA3-4EB8-A498-45B82AEE101C}" presName="container" presStyleCnt="0">
        <dgm:presLayoutVars>
          <dgm:dir/>
          <dgm:resizeHandles val="exact"/>
        </dgm:presLayoutVars>
      </dgm:prSet>
      <dgm:spPr/>
    </dgm:pt>
    <dgm:pt modelId="{25FD1D57-DC0D-42C8-B0B8-4BC88751CD9A}" type="pres">
      <dgm:prSet presAssocID="{2A770897-20F5-49D7-B0C7-E32A1D0E7966}" presName="compNode" presStyleCnt="0"/>
      <dgm:spPr/>
    </dgm:pt>
    <dgm:pt modelId="{248B5FA6-320A-42F7-9233-18148AE12C31}" type="pres">
      <dgm:prSet presAssocID="{2A770897-20F5-49D7-B0C7-E32A1D0E7966}" presName="iconBgRect" presStyleLbl="bgShp" presStyleIdx="0" presStyleCnt="5"/>
      <dgm:spPr/>
    </dgm:pt>
    <dgm:pt modelId="{CE859467-8920-450A-AA5B-D3C11FD162ED}" type="pres">
      <dgm:prSet presAssocID="{2A770897-20F5-49D7-B0C7-E32A1D0E7966}"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ar chart"/>
        </a:ext>
      </dgm:extLst>
    </dgm:pt>
    <dgm:pt modelId="{9C848E51-83C8-4610-A40B-25FCF3E68A29}" type="pres">
      <dgm:prSet presAssocID="{2A770897-20F5-49D7-B0C7-E32A1D0E7966}" presName="spaceRect" presStyleCnt="0"/>
      <dgm:spPr/>
    </dgm:pt>
    <dgm:pt modelId="{69A8391E-C5DB-405D-AAEE-0543354FC7BC}" type="pres">
      <dgm:prSet presAssocID="{2A770897-20F5-49D7-B0C7-E32A1D0E7966}" presName="textRect" presStyleLbl="revTx" presStyleIdx="0" presStyleCnt="5">
        <dgm:presLayoutVars>
          <dgm:chMax val="1"/>
          <dgm:chPref val="1"/>
        </dgm:presLayoutVars>
      </dgm:prSet>
      <dgm:spPr/>
    </dgm:pt>
    <dgm:pt modelId="{45280671-1EC8-4235-A13F-5FE50896A581}" type="pres">
      <dgm:prSet presAssocID="{D5C0600A-D677-48E4-941C-82EBFD83691F}" presName="sibTrans" presStyleLbl="sibTrans2D1" presStyleIdx="0" presStyleCnt="0"/>
      <dgm:spPr/>
    </dgm:pt>
    <dgm:pt modelId="{72B7A08F-2E98-48C1-BD07-04E5FF315FDA}" type="pres">
      <dgm:prSet presAssocID="{6DBCD54A-DB3E-4696-A694-4E25769AF5AE}" presName="compNode" presStyleCnt="0"/>
      <dgm:spPr/>
    </dgm:pt>
    <dgm:pt modelId="{903C37F8-2E0C-40E2-9C8F-1D43DA4B0F5E}" type="pres">
      <dgm:prSet presAssocID="{6DBCD54A-DB3E-4696-A694-4E25769AF5AE}" presName="iconBgRect" presStyleLbl="bgShp" presStyleIdx="1" presStyleCnt="5"/>
      <dgm:spPr/>
    </dgm:pt>
    <dgm:pt modelId="{42C43516-8F51-4BFF-8612-5B4B1EE32874}" type="pres">
      <dgm:prSet presAssocID="{6DBCD54A-DB3E-4696-A694-4E25769AF5AE}"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Target"/>
        </a:ext>
      </dgm:extLst>
    </dgm:pt>
    <dgm:pt modelId="{E4AC325F-DE31-494C-85C1-B0C7131EDE6B}" type="pres">
      <dgm:prSet presAssocID="{6DBCD54A-DB3E-4696-A694-4E25769AF5AE}" presName="spaceRect" presStyleCnt="0"/>
      <dgm:spPr/>
    </dgm:pt>
    <dgm:pt modelId="{7FFDAFC7-A53E-4BAA-BA16-63EA5C3F4552}" type="pres">
      <dgm:prSet presAssocID="{6DBCD54A-DB3E-4696-A694-4E25769AF5AE}" presName="textRect" presStyleLbl="revTx" presStyleIdx="1" presStyleCnt="5">
        <dgm:presLayoutVars>
          <dgm:chMax val="1"/>
          <dgm:chPref val="1"/>
        </dgm:presLayoutVars>
      </dgm:prSet>
      <dgm:spPr/>
    </dgm:pt>
    <dgm:pt modelId="{77515EF9-36F2-4A88-8265-7011E4CED7D2}" type="pres">
      <dgm:prSet presAssocID="{3787DAFA-04F6-4867-BA55-4D86C0E5E66F}" presName="sibTrans" presStyleLbl="sibTrans2D1" presStyleIdx="0" presStyleCnt="0"/>
      <dgm:spPr/>
    </dgm:pt>
    <dgm:pt modelId="{9E9AE67C-B537-4F56-8F40-24F659B7AB71}" type="pres">
      <dgm:prSet presAssocID="{4AAB8D11-88B0-4622-8F08-7AF7E2F57B3C}" presName="compNode" presStyleCnt="0"/>
      <dgm:spPr/>
    </dgm:pt>
    <dgm:pt modelId="{C7B4DB31-5941-444E-B3EF-9544C69BE84F}" type="pres">
      <dgm:prSet presAssocID="{4AAB8D11-88B0-4622-8F08-7AF7E2F57B3C}" presName="iconBgRect" presStyleLbl="bgShp" presStyleIdx="2" presStyleCnt="5"/>
      <dgm:spPr/>
    </dgm:pt>
    <dgm:pt modelId="{A91CAFB2-A210-4A79-90D2-14A9F9DD55CF}" type="pres">
      <dgm:prSet presAssocID="{4AAB8D11-88B0-4622-8F08-7AF7E2F57B3C}"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Chat"/>
        </a:ext>
      </dgm:extLst>
    </dgm:pt>
    <dgm:pt modelId="{7D605887-6B61-4C35-B1E8-CE7E8B71CF69}" type="pres">
      <dgm:prSet presAssocID="{4AAB8D11-88B0-4622-8F08-7AF7E2F57B3C}" presName="spaceRect" presStyleCnt="0"/>
      <dgm:spPr/>
    </dgm:pt>
    <dgm:pt modelId="{CFFDE743-8385-436B-9676-BBBA0021C9DE}" type="pres">
      <dgm:prSet presAssocID="{4AAB8D11-88B0-4622-8F08-7AF7E2F57B3C}" presName="textRect" presStyleLbl="revTx" presStyleIdx="2" presStyleCnt="5">
        <dgm:presLayoutVars>
          <dgm:chMax val="1"/>
          <dgm:chPref val="1"/>
        </dgm:presLayoutVars>
      </dgm:prSet>
      <dgm:spPr/>
    </dgm:pt>
    <dgm:pt modelId="{7392D7E1-08A3-4C66-995C-F5897559A215}" type="pres">
      <dgm:prSet presAssocID="{B4758DCF-5E81-4BDE-B525-AFFDCFC004EB}" presName="sibTrans" presStyleLbl="sibTrans2D1" presStyleIdx="0" presStyleCnt="0"/>
      <dgm:spPr/>
    </dgm:pt>
    <dgm:pt modelId="{945FB06E-AECE-4CFC-BCAA-CE77FAE34B49}" type="pres">
      <dgm:prSet presAssocID="{100814EC-79C0-42C8-B573-F80605C4D34B}" presName="compNode" presStyleCnt="0"/>
      <dgm:spPr/>
    </dgm:pt>
    <dgm:pt modelId="{E8268EB5-9C03-437A-A5A3-BDAD21D7D8A6}" type="pres">
      <dgm:prSet presAssocID="{100814EC-79C0-42C8-B573-F80605C4D34B}" presName="iconBgRect" presStyleLbl="bgShp" presStyleIdx="3" presStyleCnt="5"/>
      <dgm:spPr/>
    </dgm:pt>
    <dgm:pt modelId="{B52A96C2-E042-4C19-BC82-0256D3DFBD82}" type="pres">
      <dgm:prSet presAssocID="{100814EC-79C0-42C8-B573-F80605C4D34B}"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Flask"/>
        </a:ext>
      </dgm:extLst>
    </dgm:pt>
    <dgm:pt modelId="{7E327FF6-4A8F-43E3-98A7-B7B63A4D369A}" type="pres">
      <dgm:prSet presAssocID="{100814EC-79C0-42C8-B573-F80605C4D34B}" presName="spaceRect" presStyleCnt="0"/>
      <dgm:spPr/>
    </dgm:pt>
    <dgm:pt modelId="{2B484FF8-F8A9-4473-BE6B-7CBF264FF6AB}" type="pres">
      <dgm:prSet presAssocID="{100814EC-79C0-42C8-B573-F80605C4D34B}" presName="textRect" presStyleLbl="revTx" presStyleIdx="3" presStyleCnt="5">
        <dgm:presLayoutVars>
          <dgm:chMax val="1"/>
          <dgm:chPref val="1"/>
        </dgm:presLayoutVars>
      </dgm:prSet>
      <dgm:spPr/>
    </dgm:pt>
    <dgm:pt modelId="{11734D4F-8D7A-4CA3-A10A-FCBE4FEC9C11}" type="pres">
      <dgm:prSet presAssocID="{2B39CE62-1823-42B0-B765-984090DECAB6}" presName="sibTrans" presStyleLbl="sibTrans2D1" presStyleIdx="0" presStyleCnt="0"/>
      <dgm:spPr/>
    </dgm:pt>
    <dgm:pt modelId="{C25C8B64-82AD-47FC-9788-5F89B3A2018F}" type="pres">
      <dgm:prSet presAssocID="{BF81334C-E236-433B-AD65-B4450EF9BBAC}" presName="compNode" presStyleCnt="0"/>
      <dgm:spPr/>
    </dgm:pt>
    <dgm:pt modelId="{995BE03E-033E-442E-8B9F-D91A067AE036}" type="pres">
      <dgm:prSet presAssocID="{BF81334C-E236-433B-AD65-B4450EF9BBAC}" presName="iconBgRect" presStyleLbl="bgShp" presStyleIdx="4" presStyleCnt="5"/>
      <dgm:spPr/>
    </dgm:pt>
    <dgm:pt modelId="{E7E5B390-1BDD-4356-BC0F-522C1FB11D89}" type="pres">
      <dgm:prSet presAssocID="{BF81334C-E236-433B-AD65-B4450EF9BBAC}"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Web Design"/>
        </a:ext>
      </dgm:extLst>
    </dgm:pt>
    <dgm:pt modelId="{7D69E8FB-9122-42B4-ADD2-FE3D8AEB5FF5}" type="pres">
      <dgm:prSet presAssocID="{BF81334C-E236-433B-AD65-B4450EF9BBAC}" presName="spaceRect" presStyleCnt="0"/>
      <dgm:spPr/>
    </dgm:pt>
    <dgm:pt modelId="{B83E9235-D309-44A5-960C-88C328F616CD}" type="pres">
      <dgm:prSet presAssocID="{BF81334C-E236-433B-AD65-B4450EF9BBAC}" presName="textRect" presStyleLbl="revTx" presStyleIdx="4" presStyleCnt="5">
        <dgm:presLayoutVars>
          <dgm:chMax val="1"/>
          <dgm:chPref val="1"/>
        </dgm:presLayoutVars>
      </dgm:prSet>
      <dgm:spPr/>
    </dgm:pt>
  </dgm:ptLst>
  <dgm:cxnLst>
    <dgm:cxn modelId="{5F495619-81B7-4FBD-9D3A-B2024888BB61}" srcId="{B86352EA-8CA3-4EB8-A498-45B82AEE101C}" destId="{2A770897-20F5-49D7-B0C7-E32A1D0E7966}" srcOrd="0" destOrd="0" parTransId="{633F0BB4-3439-4CD5-8453-5413468E96EC}" sibTransId="{D5C0600A-D677-48E4-941C-82EBFD83691F}"/>
    <dgm:cxn modelId="{2DC1CB2B-A218-42B4-886B-634ADA352D83}" type="presOf" srcId="{2B39CE62-1823-42B0-B765-984090DECAB6}" destId="{11734D4F-8D7A-4CA3-A10A-FCBE4FEC9C11}" srcOrd="0" destOrd="0" presId="urn:microsoft.com/office/officeart/2018/2/layout/IconCircleList"/>
    <dgm:cxn modelId="{74387733-46EC-403A-BE03-5B40D0FCB12F}" srcId="{B86352EA-8CA3-4EB8-A498-45B82AEE101C}" destId="{BF81334C-E236-433B-AD65-B4450EF9BBAC}" srcOrd="4" destOrd="0" parTransId="{D18DAF85-5A31-441D-B0D6-94461A64AF1C}" sibTransId="{27911D3C-340C-45C4-8647-9C703F5DEC47}"/>
    <dgm:cxn modelId="{180C173F-006B-408C-9E52-88B91E73E11D}" srcId="{B86352EA-8CA3-4EB8-A498-45B82AEE101C}" destId="{6DBCD54A-DB3E-4696-A694-4E25769AF5AE}" srcOrd="1" destOrd="0" parTransId="{11A9C6F5-706F-4931-9FA6-EF582B0C3054}" sibTransId="{3787DAFA-04F6-4867-BA55-4D86C0E5E66F}"/>
    <dgm:cxn modelId="{FCF24C62-71F9-4CDC-854D-652777A4BE3F}" type="presOf" srcId="{B86352EA-8CA3-4EB8-A498-45B82AEE101C}" destId="{9BB7B88B-E9E0-43E7-9405-6008A4023BCF}" srcOrd="0" destOrd="0" presId="urn:microsoft.com/office/officeart/2018/2/layout/IconCircleList"/>
    <dgm:cxn modelId="{765CA549-4118-4822-9A3D-5C23F34332C2}" srcId="{B86352EA-8CA3-4EB8-A498-45B82AEE101C}" destId="{100814EC-79C0-42C8-B573-F80605C4D34B}" srcOrd="3" destOrd="0" parTransId="{19331D47-EFEA-41C5-A57D-DAAB99C93126}" sibTransId="{2B39CE62-1823-42B0-B765-984090DECAB6}"/>
    <dgm:cxn modelId="{7CFC7456-B2F1-4F98-B76C-B73BA75D7E59}" srcId="{B86352EA-8CA3-4EB8-A498-45B82AEE101C}" destId="{4AAB8D11-88B0-4622-8F08-7AF7E2F57B3C}" srcOrd="2" destOrd="0" parTransId="{9FBC926E-5A53-4BE7-A235-A594D29769BE}" sibTransId="{B4758DCF-5E81-4BDE-B525-AFFDCFC004EB}"/>
    <dgm:cxn modelId="{F38E547A-C358-4BFE-8AB1-5B82F60A39CE}" type="presOf" srcId="{3787DAFA-04F6-4867-BA55-4D86C0E5E66F}" destId="{77515EF9-36F2-4A88-8265-7011E4CED7D2}" srcOrd="0" destOrd="0" presId="urn:microsoft.com/office/officeart/2018/2/layout/IconCircleList"/>
    <dgm:cxn modelId="{8CAA8991-3825-4434-BD6F-259560E22504}" type="presOf" srcId="{B4758DCF-5E81-4BDE-B525-AFFDCFC004EB}" destId="{7392D7E1-08A3-4C66-995C-F5897559A215}" srcOrd="0" destOrd="0" presId="urn:microsoft.com/office/officeart/2018/2/layout/IconCircleList"/>
    <dgm:cxn modelId="{DE9E5595-A81E-48E8-B2CC-D744D3D7AAE9}" type="presOf" srcId="{100814EC-79C0-42C8-B573-F80605C4D34B}" destId="{2B484FF8-F8A9-4473-BE6B-7CBF264FF6AB}" srcOrd="0" destOrd="0" presId="urn:microsoft.com/office/officeart/2018/2/layout/IconCircleList"/>
    <dgm:cxn modelId="{E4B179A5-A155-4E85-A0F5-26250F5C2A5E}" type="presOf" srcId="{BF81334C-E236-433B-AD65-B4450EF9BBAC}" destId="{B83E9235-D309-44A5-960C-88C328F616CD}" srcOrd="0" destOrd="0" presId="urn:microsoft.com/office/officeart/2018/2/layout/IconCircleList"/>
    <dgm:cxn modelId="{04A529CC-9B86-4DF3-8ACC-421478ECAF39}" type="presOf" srcId="{D5C0600A-D677-48E4-941C-82EBFD83691F}" destId="{45280671-1EC8-4235-A13F-5FE50896A581}" srcOrd="0" destOrd="0" presId="urn:microsoft.com/office/officeart/2018/2/layout/IconCircleList"/>
    <dgm:cxn modelId="{6711ADD7-417E-4BAF-9069-29BBEDD1AFE1}" type="presOf" srcId="{6DBCD54A-DB3E-4696-A694-4E25769AF5AE}" destId="{7FFDAFC7-A53E-4BAA-BA16-63EA5C3F4552}" srcOrd="0" destOrd="0" presId="urn:microsoft.com/office/officeart/2018/2/layout/IconCircleList"/>
    <dgm:cxn modelId="{1CD035DD-DA84-437C-A06D-020330DAFA96}" type="presOf" srcId="{4AAB8D11-88B0-4622-8F08-7AF7E2F57B3C}" destId="{CFFDE743-8385-436B-9676-BBBA0021C9DE}" srcOrd="0" destOrd="0" presId="urn:microsoft.com/office/officeart/2018/2/layout/IconCircleList"/>
    <dgm:cxn modelId="{5BEA0BF7-A5DB-4AA8-A482-CC1BBBE91C85}" type="presOf" srcId="{2A770897-20F5-49D7-B0C7-E32A1D0E7966}" destId="{69A8391E-C5DB-405D-AAEE-0543354FC7BC}" srcOrd="0" destOrd="0" presId="urn:microsoft.com/office/officeart/2018/2/layout/IconCircleList"/>
    <dgm:cxn modelId="{23E182C1-C90B-408E-ADE6-2A14700F9B8D}" type="presParOf" srcId="{9BB7B88B-E9E0-43E7-9405-6008A4023BCF}" destId="{534EF7E4-DCFF-46EE-9B92-D3668B5466BC}" srcOrd="0" destOrd="0" presId="urn:microsoft.com/office/officeart/2018/2/layout/IconCircleList"/>
    <dgm:cxn modelId="{DB429C91-3DCA-4E44-9063-98EE332D0D1E}" type="presParOf" srcId="{534EF7E4-DCFF-46EE-9B92-D3668B5466BC}" destId="{25FD1D57-DC0D-42C8-B0B8-4BC88751CD9A}" srcOrd="0" destOrd="0" presId="urn:microsoft.com/office/officeart/2018/2/layout/IconCircleList"/>
    <dgm:cxn modelId="{C315D7DA-ACBD-483C-BDEE-F8FE21DFF41C}" type="presParOf" srcId="{25FD1D57-DC0D-42C8-B0B8-4BC88751CD9A}" destId="{248B5FA6-320A-42F7-9233-18148AE12C31}" srcOrd="0" destOrd="0" presId="urn:microsoft.com/office/officeart/2018/2/layout/IconCircleList"/>
    <dgm:cxn modelId="{5ECA7B4A-5DAA-48FE-B817-267D34EA4A3D}" type="presParOf" srcId="{25FD1D57-DC0D-42C8-B0B8-4BC88751CD9A}" destId="{CE859467-8920-450A-AA5B-D3C11FD162ED}" srcOrd="1" destOrd="0" presId="urn:microsoft.com/office/officeart/2018/2/layout/IconCircleList"/>
    <dgm:cxn modelId="{0CE9277D-726C-4DE2-A270-990F082AD4C3}" type="presParOf" srcId="{25FD1D57-DC0D-42C8-B0B8-4BC88751CD9A}" destId="{9C848E51-83C8-4610-A40B-25FCF3E68A29}" srcOrd="2" destOrd="0" presId="urn:microsoft.com/office/officeart/2018/2/layout/IconCircleList"/>
    <dgm:cxn modelId="{B08B4BDA-C732-48FC-915A-B98A3EC606AF}" type="presParOf" srcId="{25FD1D57-DC0D-42C8-B0B8-4BC88751CD9A}" destId="{69A8391E-C5DB-405D-AAEE-0543354FC7BC}" srcOrd="3" destOrd="0" presId="urn:microsoft.com/office/officeart/2018/2/layout/IconCircleList"/>
    <dgm:cxn modelId="{5BC598A9-2229-4336-B816-131EFCCDFDDF}" type="presParOf" srcId="{534EF7E4-DCFF-46EE-9B92-D3668B5466BC}" destId="{45280671-1EC8-4235-A13F-5FE50896A581}" srcOrd="1" destOrd="0" presId="urn:microsoft.com/office/officeart/2018/2/layout/IconCircleList"/>
    <dgm:cxn modelId="{8D41AA56-2D50-4EF0-B308-DE20F6A5FEF7}" type="presParOf" srcId="{534EF7E4-DCFF-46EE-9B92-D3668B5466BC}" destId="{72B7A08F-2E98-48C1-BD07-04E5FF315FDA}" srcOrd="2" destOrd="0" presId="urn:microsoft.com/office/officeart/2018/2/layout/IconCircleList"/>
    <dgm:cxn modelId="{A6C92756-5AE4-4DFD-A5A3-13FEDF5EB97D}" type="presParOf" srcId="{72B7A08F-2E98-48C1-BD07-04E5FF315FDA}" destId="{903C37F8-2E0C-40E2-9C8F-1D43DA4B0F5E}" srcOrd="0" destOrd="0" presId="urn:microsoft.com/office/officeart/2018/2/layout/IconCircleList"/>
    <dgm:cxn modelId="{685540A7-D5BD-426E-A3F0-5465E8A348E4}" type="presParOf" srcId="{72B7A08F-2E98-48C1-BD07-04E5FF315FDA}" destId="{42C43516-8F51-4BFF-8612-5B4B1EE32874}" srcOrd="1" destOrd="0" presId="urn:microsoft.com/office/officeart/2018/2/layout/IconCircleList"/>
    <dgm:cxn modelId="{F6C99E0E-BA1F-4C75-A9D1-FD7D7B5C214B}" type="presParOf" srcId="{72B7A08F-2E98-48C1-BD07-04E5FF315FDA}" destId="{E4AC325F-DE31-494C-85C1-B0C7131EDE6B}" srcOrd="2" destOrd="0" presId="urn:microsoft.com/office/officeart/2018/2/layout/IconCircleList"/>
    <dgm:cxn modelId="{4FC3DBD4-BBEA-4F79-96FD-0502F70732C9}" type="presParOf" srcId="{72B7A08F-2E98-48C1-BD07-04E5FF315FDA}" destId="{7FFDAFC7-A53E-4BAA-BA16-63EA5C3F4552}" srcOrd="3" destOrd="0" presId="urn:microsoft.com/office/officeart/2018/2/layout/IconCircleList"/>
    <dgm:cxn modelId="{C7384C7B-91A9-4FCA-ACD0-DF8A09AE2C73}" type="presParOf" srcId="{534EF7E4-DCFF-46EE-9B92-D3668B5466BC}" destId="{77515EF9-36F2-4A88-8265-7011E4CED7D2}" srcOrd="3" destOrd="0" presId="urn:microsoft.com/office/officeart/2018/2/layout/IconCircleList"/>
    <dgm:cxn modelId="{DB49178B-FA30-4F82-8B66-077CFD31B793}" type="presParOf" srcId="{534EF7E4-DCFF-46EE-9B92-D3668B5466BC}" destId="{9E9AE67C-B537-4F56-8F40-24F659B7AB71}" srcOrd="4" destOrd="0" presId="urn:microsoft.com/office/officeart/2018/2/layout/IconCircleList"/>
    <dgm:cxn modelId="{881F84D5-C201-42A5-BE17-A7FDDE751B43}" type="presParOf" srcId="{9E9AE67C-B537-4F56-8F40-24F659B7AB71}" destId="{C7B4DB31-5941-444E-B3EF-9544C69BE84F}" srcOrd="0" destOrd="0" presId="urn:microsoft.com/office/officeart/2018/2/layout/IconCircleList"/>
    <dgm:cxn modelId="{36C94A46-CB39-4C16-9113-2766F079EEED}" type="presParOf" srcId="{9E9AE67C-B537-4F56-8F40-24F659B7AB71}" destId="{A91CAFB2-A210-4A79-90D2-14A9F9DD55CF}" srcOrd="1" destOrd="0" presId="urn:microsoft.com/office/officeart/2018/2/layout/IconCircleList"/>
    <dgm:cxn modelId="{BFE0E180-C524-4959-9364-077D82CC6E51}" type="presParOf" srcId="{9E9AE67C-B537-4F56-8F40-24F659B7AB71}" destId="{7D605887-6B61-4C35-B1E8-CE7E8B71CF69}" srcOrd="2" destOrd="0" presId="urn:microsoft.com/office/officeart/2018/2/layout/IconCircleList"/>
    <dgm:cxn modelId="{443C92C2-0978-4AF6-9C58-228F6B02A7BF}" type="presParOf" srcId="{9E9AE67C-B537-4F56-8F40-24F659B7AB71}" destId="{CFFDE743-8385-436B-9676-BBBA0021C9DE}" srcOrd="3" destOrd="0" presId="urn:microsoft.com/office/officeart/2018/2/layout/IconCircleList"/>
    <dgm:cxn modelId="{0164F9CF-A997-4C8F-986D-31DBAD57E396}" type="presParOf" srcId="{534EF7E4-DCFF-46EE-9B92-D3668B5466BC}" destId="{7392D7E1-08A3-4C66-995C-F5897559A215}" srcOrd="5" destOrd="0" presId="urn:microsoft.com/office/officeart/2018/2/layout/IconCircleList"/>
    <dgm:cxn modelId="{46199C2F-B179-454B-AE8E-E5407440DC54}" type="presParOf" srcId="{534EF7E4-DCFF-46EE-9B92-D3668B5466BC}" destId="{945FB06E-AECE-4CFC-BCAA-CE77FAE34B49}" srcOrd="6" destOrd="0" presId="urn:microsoft.com/office/officeart/2018/2/layout/IconCircleList"/>
    <dgm:cxn modelId="{D28A5183-1D7B-4D77-9963-6F63C60A14B2}" type="presParOf" srcId="{945FB06E-AECE-4CFC-BCAA-CE77FAE34B49}" destId="{E8268EB5-9C03-437A-A5A3-BDAD21D7D8A6}" srcOrd="0" destOrd="0" presId="urn:microsoft.com/office/officeart/2018/2/layout/IconCircleList"/>
    <dgm:cxn modelId="{EDAF9805-A5EC-45D7-BAD6-C5AF7ABDC6FB}" type="presParOf" srcId="{945FB06E-AECE-4CFC-BCAA-CE77FAE34B49}" destId="{B52A96C2-E042-4C19-BC82-0256D3DFBD82}" srcOrd="1" destOrd="0" presId="urn:microsoft.com/office/officeart/2018/2/layout/IconCircleList"/>
    <dgm:cxn modelId="{3121F08B-0782-4E35-97FA-A4E7B511DAB0}" type="presParOf" srcId="{945FB06E-AECE-4CFC-BCAA-CE77FAE34B49}" destId="{7E327FF6-4A8F-43E3-98A7-B7B63A4D369A}" srcOrd="2" destOrd="0" presId="urn:microsoft.com/office/officeart/2018/2/layout/IconCircleList"/>
    <dgm:cxn modelId="{233FF3E6-2549-4AC9-A797-F8FF15504E7A}" type="presParOf" srcId="{945FB06E-AECE-4CFC-BCAA-CE77FAE34B49}" destId="{2B484FF8-F8A9-4473-BE6B-7CBF264FF6AB}" srcOrd="3" destOrd="0" presId="urn:microsoft.com/office/officeart/2018/2/layout/IconCircleList"/>
    <dgm:cxn modelId="{C5E65D70-BC1E-4756-B468-7B67639F92E3}" type="presParOf" srcId="{534EF7E4-DCFF-46EE-9B92-D3668B5466BC}" destId="{11734D4F-8D7A-4CA3-A10A-FCBE4FEC9C11}" srcOrd="7" destOrd="0" presId="urn:microsoft.com/office/officeart/2018/2/layout/IconCircleList"/>
    <dgm:cxn modelId="{D9A0A57F-E21D-4EFF-8419-019819858146}" type="presParOf" srcId="{534EF7E4-DCFF-46EE-9B92-D3668B5466BC}" destId="{C25C8B64-82AD-47FC-9788-5F89B3A2018F}" srcOrd="8" destOrd="0" presId="urn:microsoft.com/office/officeart/2018/2/layout/IconCircleList"/>
    <dgm:cxn modelId="{074B9833-A8E3-4310-9F7E-2F73561D0641}" type="presParOf" srcId="{C25C8B64-82AD-47FC-9788-5F89B3A2018F}" destId="{995BE03E-033E-442E-8B9F-D91A067AE036}" srcOrd="0" destOrd="0" presId="urn:microsoft.com/office/officeart/2018/2/layout/IconCircleList"/>
    <dgm:cxn modelId="{C56A8985-8304-4F7A-BD2C-D0DD0C6C54E8}" type="presParOf" srcId="{C25C8B64-82AD-47FC-9788-5F89B3A2018F}" destId="{E7E5B390-1BDD-4356-BC0F-522C1FB11D89}" srcOrd="1" destOrd="0" presId="urn:microsoft.com/office/officeart/2018/2/layout/IconCircleList"/>
    <dgm:cxn modelId="{322835C4-128E-471D-B68F-C3724C49A870}" type="presParOf" srcId="{C25C8B64-82AD-47FC-9788-5F89B3A2018F}" destId="{7D69E8FB-9122-42B4-ADD2-FE3D8AEB5FF5}" srcOrd="2" destOrd="0" presId="urn:microsoft.com/office/officeart/2018/2/layout/IconCircleList"/>
    <dgm:cxn modelId="{68D70CAA-CC0B-4B2D-B461-E9C417F0F4A7}" type="presParOf" srcId="{C25C8B64-82AD-47FC-9788-5F89B3A2018F}" destId="{B83E9235-D309-44A5-960C-88C328F616CD}"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C1CE5E-D3BF-4D44-A918-0CA0A6F0A6B2}">
      <dsp:nvSpPr>
        <dsp:cNvPr id="0" name=""/>
        <dsp:cNvSpPr/>
      </dsp:nvSpPr>
      <dsp:spPr>
        <a:xfrm>
          <a:off x="3054217" y="679139"/>
          <a:ext cx="524198" cy="91440"/>
        </a:xfrm>
        <a:custGeom>
          <a:avLst/>
          <a:gdLst/>
          <a:ahLst/>
          <a:cxnLst/>
          <a:rect l="0" t="0" r="0" b="0"/>
          <a:pathLst>
            <a:path>
              <a:moveTo>
                <a:pt x="0" y="45720"/>
              </a:moveTo>
              <a:lnTo>
                <a:pt x="524198" y="45720"/>
              </a:lnTo>
            </a:path>
          </a:pathLst>
        </a:custGeom>
        <a:noFill/>
        <a:ln w="1270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302446" y="722085"/>
        <a:ext cx="27739" cy="5547"/>
      </dsp:txXfrm>
    </dsp:sp>
    <dsp:sp modelId="{8006DE23-7DD0-496E-9E82-8185012E803F}">
      <dsp:nvSpPr>
        <dsp:cNvPr id="0" name=""/>
        <dsp:cNvSpPr/>
      </dsp:nvSpPr>
      <dsp:spPr>
        <a:xfrm>
          <a:off x="643847" y="1208"/>
          <a:ext cx="2412169" cy="1447301"/>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8198" tIns="124070" rIns="118198" bIns="124070" numCol="1" spcCol="1270" anchor="ctr" anchorCtr="0">
          <a:noAutofit/>
        </a:bodyPr>
        <a:lstStyle/>
        <a:p>
          <a:pPr marL="0" lvl="0" indent="0" algn="ctr" defTabSz="755650">
            <a:lnSpc>
              <a:spcPct val="90000"/>
            </a:lnSpc>
            <a:spcBef>
              <a:spcPct val="0"/>
            </a:spcBef>
            <a:spcAft>
              <a:spcPct val="35000"/>
            </a:spcAft>
            <a:buNone/>
          </a:pPr>
          <a:r>
            <a:rPr lang="en-US" sz="1700" kern="1200"/>
            <a:t>The primary objectives of our project are as follows:</a:t>
          </a:r>
        </a:p>
      </dsp:txBody>
      <dsp:txXfrm>
        <a:off x="643847" y="1208"/>
        <a:ext cx="2412169" cy="1447301"/>
      </dsp:txXfrm>
    </dsp:sp>
    <dsp:sp modelId="{876239EF-2F4F-4853-BAE3-5C2A86CED436}">
      <dsp:nvSpPr>
        <dsp:cNvPr id="0" name=""/>
        <dsp:cNvSpPr/>
      </dsp:nvSpPr>
      <dsp:spPr>
        <a:xfrm>
          <a:off x="1849932" y="1446710"/>
          <a:ext cx="2966968" cy="524198"/>
        </a:xfrm>
        <a:custGeom>
          <a:avLst/>
          <a:gdLst/>
          <a:ahLst/>
          <a:cxnLst/>
          <a:rect l="0" t="0" r="0" b="0"/>
          <a:pathLst>
            <a:path>
              <a:moveTo>
                <a:pt x="2966968" y="0"/>
              </a:moveTo>
              <a:lnTo>
                <a:pt x="2966968" y="279199"/>
              </a:lnTo>
              <a:lnTo>
                <a:pt x="0" y="279199"/>
              </a:lnTo>
              <a:lnTo>
                <a:pt x="0" y="524198"/>
              </a:lnTo>
            </a:path>
          </a:pathLst>
        </a:custGeom>
        <a:noFill/>
        <a:ln w="1270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257956" y="1706035"/>
        <a:ext cx="150919" cy="5547"/>
      </dsp:txXfrm>
    </dsp:sp>
    <dsp:sp modelId="{8F594DB3-9918-4433-B775-333FD4F45C04}">
      <dsp:nvSpPr>
        <dsp:cNvPr id="0" name=""/>
        <dsp:cNvSpPr/>
      </dsp:nvSpPr>
      <dsp:spPr>
        <a:xfrm>
          <a:off x="3610815" y="1208"/>
          <a:ext cx="2412169" cy="1447301"/>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8198" tIns="124070" rIns="118198" bIns="124070" numCol="1" spcCol="1270" anchor="ctr" anchorCtr="0">
          <a:noAutofit/>
        </a:bodyPr>
        <a:lstStyle/>
        <a:p>
          <a:pPr marL="0" lvl="0" indent="0" algn="ctr" defTabSz="755650">
            <a:lnSpc>
              <a:spcPct val="90000"/>
            </a:lnSpc>
            <a:spcBef>
              <a:spcPct val="0"/>
            </a:spcBef>
            <a:spcAft>
              <a:spcPct val="35000"/>
            </a:spcAft>
            <a:buNone/>
          </a:pPr>
          <a:r>
            <a:rPr lang="en-US" sz="1700" kern="1200"/>
            <a:t>To preprocess raw tweet data and prepare it for analysis.</a:t>
          </a:r>
        </a:p>
      </dsp:txBody>
      <dsp:txXfrm>
        <a:off x="3610815" y="1208"/>
        <a:ext cx="2412169" cy="1447301"/>
      </dsp:txXfrm>
    </dsp:sp>
    <dsp:sp modelId="{4AA06F7F-6871-4DF5-9FA9-0BDF115BAA3D}">
      <dsp:nvSpPr>
        <dsp:cNvPr id="0" name=""/>
        <dsp:cNvSpPr/>
      </dsp:nvSpPr>
      <dsp:spPr>
        <a:xfrm>
          <a:off x="3054217" y="2681240"/>
          <a:ext cx="524198" cy="91440"/>
        </a:xfrm>
        <a:custGeom>
          <a:avLst/>
          <a:gdLst/>
          <a:ahLst/>
          <a:cxnLst/>
          <a:rect l="0" t="0" r="0" b="0"/>
          <a:pathLst>
            <a:path>
              <a:moveTo>
                <a:pt x="0" y="45720"/>
              </a:moveTo>
              <a:lnTo>
                <a:pt x="524198" y="45720"/>
              </a:lnTo>
            </a:path>
          </a:pathLst>
        </a:custGeom>
        <a:noFill/>
        <a:ln w="12700" cap="flat" cmpd="sng" algn="ctr">
          <a:solidFill>
            <a:schemeClr val="accent4">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302446" y="2724186"/>
        <a:ext cx="27739" cy="5547"/>
      </dsp:txXfrm>
    </dsp:sp>
    <dsp:sp modelId="{4060AEC6-D0EB-4608-9ED5-C83C03D6FF91}">
      <dsp:nvSpPr>
        <dsp:cNvPr id="0" name=""/>
        <dsp:cNvSpPr/>
      </dsp:nvSpPr>
      <dsp:spPr>
        <a:xfrm>
          <a:off x="643847" y="2003309"/>
          <a:ext cx="2412169" cy="1447301"/>
        </a:xfrm>
        <a:prstGeom prst="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8198" tIns="124070" rIns="118198" bIns="124070" numCol="1" spcCol="1270" anchor="ctr" anchorCtr="0">
          <a:noAutofit/>
        </a:bodyPr>
        <a:lstStyle/>
        <a:p>
          <a:pPr marL="0" lvl="0" indent="0" algn="ctr" defTabSz="755650">
            <a:lnSpc>
              <a:spcPct val="90000"/>
            </a:lnSpc>
            <a:spcBef>
              <a:spcPct val="0"/>
            </a:spcBef>
            <a:spcAft>
              <a:spcPct val="35000"/>
            </a:spcAft>
            <a:buNone/>
          </a:pPr>
          <a:r>
            <a:rPr lang="en-US" sz="1700" kern="1200"/>
            <a:t>To explore and visualize trends in the data using EDA techniques.</a:t>
          </a:r>
        </a:p>
      </dsp:txBody>
      <dsp:txXfrm>
        <a:off x="643847" y="2003309"/>
        <a:ext cx="2412169" cy="1447301"/>
      </dsp:txXfrm>
    </dsp:sp>
    <dsp:sp modelId="{068379E8-3150-4516-BB7C-146BE51F8C20}">
      <dsp:nvSpPr>
        <dsp:cNvPr id="0" name=""/>
        <dsp:cNvSpPr/>
      </dsp:nvSpPr>
      <dsp:spPr>
        <a:xfrm>
          <a:off x="1849932" y="3448810"/>
          <a:ext cx="2966968" cy="524198"/>
        </a:xfrm>
        <a:custGeom>
          <a:avLst/>
          <a:gdLst/>
          <a:ahLst/>
          <a:cxnLst/>
          <a:rect l="0" t="0" r="0" b="0"/>
          <a:pathLst>
            <a:path>
              <a:moveTo>
                <a:pt x="2966968" y="0"/>
              </a:moveTo>
              <a:lnTo>
                <a:pt x="2966968" y="279199"/>
              </a:lnTo>
              <a:lnTo>
                <a:pt x="0" y="279199"/>
              </a:lnTo>
              <a:lnTo>
                <a:pt x="0" y="524198"/>
              </a:lnTo>
            </a:path>
          </a:pathLst>
        </a:custGeom>
        <a:noFill/>
        <a:ln w="12700" cap="flat" cmpd="sng" algn="ctr">
          <a:solidFill>
            <a:schemeClr val="accent5">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257956" y="3708136"/>
        <a:ext cx="150919" cy="5547"/>
      </dsp:txXfrm>
    </dsp:sp>
    <dsp:sp modelId="{48AFB95E-8B35-4E50-B5D3-86C74DE72E30}">
      <dsp:nvSpPr>
        <dsp:cNvPr id="0" name=""/>
        <dsp:cNvSpPr/>
      </dsp:nvSpPr>
      <dsp:spPr>
        <a:xfrm>
          <a:off x="3610815" y="2003309"/>
          <a:ext cx="2412169" cy="1447301"/>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8198" tIns="124070" rIns="118198" bIns="124070" numCol="1" spcCol="1270" anchor="ctr" anchorCtr="0">
          <a:noAutofit/>
        </a:bodyPr>
        <a:lstStyle/>
        <a:p>
          <a:pPr marL="0" lvl="0" indent="0" algn="ctr" defTabSz="755650">
            <a:lnSpc>
              <a:spcPct val="90000"/>
            </a:lnSpc>
            <a:spcBef>
              <a:spcPct val="0"/>
            </a:spcBef>
            <a:spcAft>
              <a:spcPct val="35000"/>
            </a:spcAft>
            <a:buNone/>
          </a:pPr>
          <a:r>
            <a:rPr lang="en-US" sz="1700" kern="1200"/>
            <a:t>To build and evaluate robust machine learning models for binary sentiment classification.</a:t>
          </a:r>
        </a:p>
      </dsp:txBody>
      <dsp:txXfrm>
        <a:off x="3610815" y="2003309"/>
        <a:ext cx="2412169" cy="1447301"/>
      </dsp:txXfrm>
    </dsp:sp>
    <dsp:sp modelId="{E95405D9-4FFF-42C2-AC60-AD69F0E7BF1B}">
      <dsp:nvSpPr>
        <dsp:cNvPr id="0" name=""/>
        <dsp:cNvSpPr/>
      </dsp:nvSpPr>
      <dsp:spPr>
        <a:xfrm>
          <a:off x="3054217" y="4683340"/>
          <a:ext cx="524198" cy="91440"/>
        </a:xfrm>
        <a:custGeom>
          <a:avLst/>
          <a:gdLst/>
          <a:ahLst/>
          <a:cxnLst/>
          <a:rect l="0" t="0" r="0" b="0"/>
          <a:pathLst>
            <a:path>
              <a:moveTo>
                <a:pt x="0" y="45720"/>
              </a:moveTo>
              <a:lnTo>
                <a:pt x="524198" y="45720"/>
              </a:lnTo>
            </a:path>
          </a:pathLst>
        </a:custGeom>
        <a:noFill/>
        <a:ln w="12700" cap="flat" cmpd="sng" algn="ctr">
          <a:solidFill>
            <a:schemeClr val="accent6">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302446" y="4726286"/>
        <a:ext cx="27739" cy="5547"/>
      </dsp:txXfrm>
    </dsp:sp>
    <dsp:sp modelId="{1CD4876C-29FC-4FAF-A600-69091416C198}">
      <dsp:nvSpPr>
        <dsp:cNvPr id="0" name=""/>
        <dsp:cNvSpPr/>
      </dsp:nvSpPr>
      <dsp:spPr>
        <a:xfrm>
          <a:off x="643847" y="4005409"/>
          <a:ext cx="2412169" cy="1447301"/>
        </a:xfrm>
        <a:prstGeom prst="rect">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8198" tIns="124070" rIns="118198" bIns="124070" numCol="1" spcCol="1270" anchor="ctr" anchorCtr="0">
          <a:noAutofit/>
        </a:bodyPr>
        <a:lstStyle/>
        <a:p>
          <a:pPr marL="0" lvl="0" indent="0" algn="ctr" defTabSz="755650">
            <a:lnSpc>
              <a:spcPct val="90000"/>
            </a:lnSpc>
            <a:spcBef>
              <a:spcPct val="0"/>
            </a:spcBef>
            <a:spcAft>
              <a:spcPct val="35000"/>
            </a:spcAft>
            <a:buNone/>
          </a:pPr>
          <a:r>
            <a:rPr lang="en-US" sz="1700" kern="1200"/>
            <a:t>To deploy the best-performing model using a lightweight Flask-based API.</a:t>
          </a:r>
        </a:p>
      </dsp:txBody>
      <dsp:txXfrm>
        <a:off x="643847" y="4005409"/>
        <a:ext cx="2412169" cy="1447301"/>
      </dsp:txXfrm>
    </dsp:sp>
    <dsp:sp modelId="{56C2BBB7-64D3-4A0A-B6A8-D1DAE3FF572C}">
      <dsp:nvSpPr>
        <dsp:cNvPr id="0" name=""/>
        <dsp:cNvSpPr/>
      </dsp:nvSpPr>
      <dsp:spPr>
        <a:xfrm>
          <a:off x="3610815" y="4005409"/>
          <a:ext cx="2412169" cy="1447301"/>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8198" tIns="124070" rIns="118198" bIns="124070" numCol="1" spcCol="1270" anchor="ctr" anchorCtr="0">
          <a:noAutofit/>
        </a:bodyPr>
        <a:lstStyle/>
        <a:p>
          <a:pPr marL="0" lvl="0" indent="0" algn="ctr" defTabSz="755650">
            <a:lnSpc>
              <a:spcPct val="90000"/>
            </a:lnSpc>
            <a:spcBef>
              <a:spcPct val="0"/>
            </a:spcBef>
            <a:spcAft>
              <a:spcPct val="35000"/>
            </a:spcAft>
            <a:buNone/>
          </a:pPr>
          <a:r>
            <a:rPr lang="en-US" sz="1700" kern="1200"/>
            <a:t>To validate the deployed model through real-time POST requests using Postman.</a:t>
          </a:r>
        </a:p>
      </dsp:txBody>
      <dsp:txXfrm>
        <a:off x="3610815" y="4005409"/>
        <a:ext cx="2412169" cy="144730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BC762E-950C-4546-808B-A1A6CD28EFE6}">
      <dsp:nvSpPr>
        <dsp:cNvPr id="0" name=""/>
        <dsp:cNvSpPr/>
      </dsp:nvSpPr>
      <dsp:spPr>
        <a:xfrm>
          <a:off x="0" y="144409"/>
          <a:ext cx="6666833" cy="82485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a:t>Raw tweets contain a lot of noise such as user mentions, hashtags, URLs, emojis, and other special characters. Our cleaning process involved several steps:</a:t>
          </a:r>
        </a:p>
      </dsp:txBody>
      <dsp:txXfrm>
        <a:off x="40266" y="184675"/>
        <a:ext cx="6586301" cy="744318"/>
      </dsp:txXfrm>
    </dsp:sp>
    <dsp:sp modelId="{082A5F6C-E4E7-4D94-954A-86034900C1CA}">
      <dsp:nvSpPr>
        <dsp:cNvPr id="0" name=""/>
        <dsp:cNvSpPr/>
      </dsp:nvSpPr>
      <dsp:spPr>
        <a:xfrm>
          <a:off x="0" y="1012459"/>
          <a:ext cx="6666833" cy="824850"/>
        </a:xfrm>
        <a:prstGeom prst="roundRect">
          <a:avLst/>
        </a:prstGeom>
        <a:gradFill rotWithShape="0">
          <a:gsLst>
            <a:gs pos="0">
              <a:schemeClr val="accent2">
                <a:hueOff val="1288723"/>
                <a:satOff val="-3699"/>
                <a:lumOff val="-5922"/>
                <a:alphaOff val="0"/>
                <a:satMod val="103000"/>
                <a:lumMod val="102000"/>
                <a:tint val="94000"/>
              </a:schemeClr>
            </a:gs>
            <a:gs pos="50000">
              <a:schemeClr val="accent2">
                <a:hueOff val="1288723"/>
                <a:satOff val="-3699"/>
                <a:lumOff val="-5922"/>
                <a:alphaOff val="0"/>
                <a:satMod val="110000"/>
                <a:lumMod val="100000"/>
                <a:shade val="100000"/>
              </a:schemeClr>
            </a:gs>
            <a:gs pos="100000">
              <a:schemeClr val="accent2">
                <a:hueOff val="1288723"/>
                <a:satOff val="-3699"/>
                <a:lumOff val="-5922"/>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a:t>Removing URLs and hyperlinks using regular expressions.</a:t>
          </a:r>
        </a:p>
      </dsp:txBody>
      <dsp:txXfrm>
        <a:off x="40266" y="1052725"/>
        <a:ext cx="6586301" cy="744318"/>
      </dsp:txXfrm>
    </dsp:sp>
    <dsp:sp modelId="{207EC9AF-3145-4C6B-9C29-49515500CD23}">
      <dsp:nvSpPr>
        <dsp:cNvPr id="0" name=""/>
        <dsp:cNvSpPr/>
      </dsp:nvSpPr>
      <dsp:spPr>
        <a:xfrm>
          <a:off x="0" y="1880509"/>
          <a:ext cx="6666833" cy="824850"/>
        </a:xfrm>
        <a:prstGeom prst="roundRect">
          <a:avLst/>
        </a:prstGeom>
        <a:gradFill rotWithShape="0">
          <a:gsLst>
            <a:gs pos="0">
              <a:schemeClr val="accent2">
                <a:hueOff val="2577445"/>
                <a:satOff val="-7397"/>
                <a:lumOff val="-11844"/>
                <a:alphaOff val="0"/>
                <a:satMod val="103000"/>
                <a:lumMod val="102000"/>
                <a:tint val="94000"/>
              </a:schemeClr>
            </a:gs>
            <a:gs pos="50000">
              <a:schemeClr val="accent2">
                <a:hueOff val="2577445"/>
                <a:satOff val="-7397"/>
                <a:lumOff val="-11844"/>
                <a:alphaOff val="0"/>
                <a:satMod val="110000"/>
                <a:lumMod val="100000"/>
                <a:shade val="100000"/>
              </a:schemeClr>
            </a:gs>
            <a:gs pos="100000">
              <a:schemeClr val="accent2">
                <a:hueOff val="2577445"/>
                <a:satOff val="-7397"/>
                <a:lumOff val="-1184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a:t>Eliminating Twitter handles (e.g., @usernames) and hashtags.</a:t>
          </a:r>
        </a:p>
      </dsp:txBody>
      <dsp:txXfrm>
        <a:off x="40266" y="1920775"/>
        <a:ext cx="6586301" cy="744318"/>
      </dsp:txXfrm>
    </dsp:sp>
    <dsp:sp modelId="{BEEFA181-FF8E-4C7B-B7C3-DED1E2C4CFAE}">
      <dsp:nvSpPr>
        <dsp:cNvPr id="0" name=""/>
        <dsp:cNvSpPr/>
      </dsp:nvSpPr>
      <dsp:spPr>
        <a:xfrm>
          <a:off x="0" y="2748559"/>
          <a:ext cx="6666833" cy="824850"/>
        </a:xfrm>
        <a:prstGeom prst="roundRect">
          <a:avLst/>
        </a:prstGeom>
        <a:gradFill rotWithShape="0">
          <a:gsLst>
            <a:gs pos="0">
              <a:schemeClr val="accent2">
                <a:hueOff val="3866169"/>
                <a:satOff val="-11096"/>
                <a:lumOff val="-17765"/>
                <a:alphaOff val="0"/>
                <a:satMod val="103000"/>
                <a:lumMod val="102000"/>
                <a:tint val="94000"/>
              </a:schemeClr>
            </a:gs>
            <a:gs pos="50000">
              <a:schemeClr val="accent2">
                <a:hueOff val="3866169"/>
                <a:satOff val="-11096"/>
                <a:lumOff val="-17765"/>
                <a:alphaOff val="0"/>
                <a:satMod val="110000"/>
                <a:lumMod val="100000"/>
                <a:shade val="100000"/>
              </a:schemeClr>
            </a:gs>
            <a:gs pos="100000">
              <a:schemeClr val="accent2">
                <a:hueOff val="3866169"/>
                <a:satOff val="-11096"/>
                <a:lumOff val="-1776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a:t>Converting all text to lowercase to ensure consistency.</a:t>
          </a:r>
        </a:p>
      </dsp:txBody>
      <dsp:txXfrm>
        <a:off x="40266" y="2788825"/>
        <a:ext cx="6586301" cy="744318"/>
      </dsp:txXfrm>
    </dsp:sp>
    <dsp:sp modelId="{8ADA31DD-C832-4B7E-83BF-31671209F5D5}">
      <dsp:nvSpPr>
        <dsp:cNvPr id="0" name=""/>
        <dsp:cNvSpPr/>
      </dsp:nvSpPr>
      <dsp:spPr>
        <a:xfrm>
          <a:off x="0" y="3616610"/>
          <a:ext cx="6666833" cy="824850"/>
        </a:xfrm>
        <a:prstGeom prst="roundRect">
          <a:avLst/>
        </a:prstGeom>
        <a:gradFill rotWithShape="0">
          <a:gsLst>
            <a:gs pos="0">
              <a:schemeClr val="accent2">
                <a:hueOff val="5154891"/>
                <a:satOff val="-14794"/>
                <a:lumOff val="-23687"/>
                <a:alphaOff val="0"/>
                <a:satMod val="103000"/>
                <a:lumMod val="102000"/>
                <a:tint val="94000"/>
              </a:schemeClr>
            </a:gs>
            <a:gs pos="50000">
              <a:schemeClr val="accent2">
                <a:hueOff val="5154891"/>
                <a:satOff val="-14794"/>
                <a:lumOff val="-23687"/>
                <a:alphaOff val="0"/>
                <a:satMod val="110000"/>
                <a:lumMod val="100000"/>
                <a:shade val="100000"/>
              </a:schemeClr>
            </a:gs>
            <a:gs pos="100000">
              <a:schemeClr val="accent2">
                <a:hueOff val="5154891"/>
                <a:satOff val="-14794"/>
                <a:lumOff val="-23687"/>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a:t>Removing punctuation, numbers, and extra whitespace.</a:t>
          </a:r>
        </a:p>
      </dsp:txBody>
      <dsp:txXfrm>
        <a:off x="40266" y="3656876"/>
        <a:ext cx="6586301" cy="744318"/>
      </dsp:txXfrm>
    </dsp:sp>
    <dsp:sp modelId="{5B1A2D0D-BA0B-4D68-92B2-E8B011AD3487}">
      <dsp:nvSpPr>
        <dsp:cNvPr id="0" name=""/>
        <dsp:cNvSpPr/>
      </dsp:nvSpPr>
      <dsp:spPr>
        <a:xfrm>
          <a:off x="0" y="4484660"/>
          <a:ext cx="6666833" cy="824850"/>
        </a:xfrm>
        <a:prstGeom prst="roundRect">
          <a:avLst/>
        </a:prstGeom>
        <a:gradFill rotWithShape="0">
          <a:gsLst>
            <a:gs pos="0">
              <a:schemeClr val="accent2">
                <a:hueOff val="6443614"/>
                <a:satOff val="-18493"/>
                <a:lumOff val="-29609"/>
                <a:alphaOff val="0"/>
                <a:satMod val="103000"/>
                <a:lumMod val="102000"/>
                <a:tint val="94000"/>
              </a:schemeClr>
            </a:gs>
            <a:gs pos="50000">
              <a:schemeClr val="accent2">
                <a:hueOff val="6443614"/>
                <a:satOff val="-18493"/>
                <a:lumOff val="-29609"/>
                <a:alphaOff val="0"/>
                <a:satMod val="110000"/>
                <a:lumMod val="100000"/>
                <a:shade val="100000"/>
              </a:schemeClr>
            </a:gs>
            <a:gs pos="100000">
              <a:schemeClr val="accent2">
                <a:hueOff val="6443614"/>
                <a:satOff val="-18493"/>
                <a:lumOff val="-2960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a:t>Tokenizing and vectorizing the cleaned text for model input. This resulted in a cleaner, more uniform dataset ready for feature extraction.</a:t>
          </a:r>
        </a:p>
      </dsp:txBody>
      <dsp:txXfrm>
        <a:off x="40266" y="4524926"/>
        <a:ext cx="6586301" cy="74431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8B5FA6-320A-42F7-9233-18148AE12C31}">
      <dsp:nvSpPr>
        <dsp:cNvPr id="0" name=""/>
        <dsp:cNvSpPr/>
      </dsp:nvSpPr>
      <dsp:spPr>
        <a:xfrm>
          <a:off x="82613" y="908559"/>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E859467-8920-450A-AA5B-D3C11FD162ED}">
      <dsp:nvSpPr>
        <dsp:cNvPr id="0" name=""/>
        <dsp:cNvSpPr/>
      </dsp:nvSpPr>
      <dsp:spPr>
        <a:xfrm>
          <a:off x="271034" y="1096980"/>
          <a:ext cx="520402" cy="52040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9A8391E-C5DB-405D-AAEE-0543354FC7BC}">
      <dsp:nvSpPr>
        <dsp:cNvPr id="0" name=""/>
        <dsp:cNvSpPr/>
      </dsp:nvSpPr>
      <dsp:spPr>
        <a:xfrm>
          <a:off x="1172126" y="90855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kern="1200"/>
            <a:t>Logistic Regression showed better performance than Naive Bayes.</a:t>
          </a:r>
        </a:p>
      </dsp:txBody>
      <dsp:txXfrm>
        <a:off x="1172126" y="908559"/>
        <a:ext cx="2114937" cy="897246"/>
      </dsp:txXfrm>
    </dsp:sp>
    <dsp:sp modelId="{903C37F8-2E0C-40E2-9C8F-1D43DA4B0F5E}">
      <dsp:nvSpPr>
        <dsp:cNvPr id="0" name=""/>
        <dsp:cNvSpPr/>
      </dsp:nvSpPr>
      <dsp:spPr>
        <a:xfrm>
          <a:off x="3655575" y="908559"/>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2C43516-8F51-4BFF-8612-5B4B1EE32874}">
      <dsp:nvSpPr>
        <dsp:cNvPr id="0" name=""/>
        <dsp:cNvSpPr/>
      </dsp:nvSpPr>
      <dsp:spPr>
        <a:xfrm>
          <a:off x="3843996" y="1096980"/>
          <a:ext cx="520402" cy="52040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FFDAFC7-A53E-4BAA-BA16-63EA5C3F4552}">
      <dsp:nvSpPr>
        <dsp:cNvPr id="0" name=""/>
        <dsp:cNvSpPr/>
      </dsp:nvSpPr>
      <dsp:spPr>
        <a:xfrm>
          <a:off x="4745088" y="90855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kern="1200"/>
            <a:t>F1-scores and accuracy remained consistent across multiple validation runs.</a:t>
          </a:r>
        </a:p>
      </dsp:txBody>
      <dsp:txXfrm>
        <a:off x="4745088" y="908559"/>
        <a:ext cx="2114937" cy="897246"/>
      </dsp:txXfrm>
    </dsp:sp>
    <dsp:sp modelId="{C7B4DB31-5941-444E-B3EF-9544C69BE84F}">
      <dsp:nvSpPr>
        <dsp:cNvPr id="0" name=""/>
        <dsp:cNvSpPr/>
      </dsp:nvSpPr>
      <dsp:spPr>
        <a:xfrm>
          <a:off x="7228536" y="908559"/>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91CAFB2-A210-4A79-90D2-14A9F9DD55CF}">
      <dsp:nvSpPr>
        <dsp:cNvPr id="0" name=""/>
        <dsp:cNvSpPr/>
      </dsp:nvSpPr>
      <dsp:spPr>
        <a:xfrm>
          <a:off x="7416958" y="1096980"/>
          <a:ext cx="520402" cy="52040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FFDE743-8385-436B-9676-BBBA0021C9DE}">
      <dsp:nvSpPr>
        <dsp:cNvPr id="0" name=""/>
        <dsp:cNvSpPr/>
      </dsp:nvSpPr>
      <dsp:spPr>
        <a:xfrm>
          <a:off x="8318049" y="90855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kern="1200"/>
            <a:t>EDA provided meaningful insight into the linguistic structure of tweets.</a:t>
          </a:r>
        </a:p>
      </dsp:txBody>
      <dsp:txXfrm>
        <a:off x="8318049" y="908559"/>
        <a:ext cx="2114937" cy="897246"/>
      </dsp:txXfrm>
    </dsp:sp>
    <dsp:sp modelId="{E8268EB5-9C03-437A-A5A3-BDAD21D7D8A6}">
      <dsp:nvSpPr>
        <dsp:cNvPr id="0" name=""/>
        <dsp:cNvSpPr/>
      </dsp:nvSpPr>
      <dsp:spPr>
        <a:xfrm>
          <a:off x="82613" y="2545532"/>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52A96C2-E042-4C19-BC82-0256D3DFBD82}">
      <dsp:nvSpPr>
        <dsp:cNvPr id="0" name=""/>
        <dsp:cNvSpPr/>
      </dsp:nvSpPr>
      <dsp:spPr>
        <a:xfrm>
          <a:off x="271034" y="2733954"/>
          <a:ext cx="520402" cy="52040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B484FF8-F8A9-4473-BE6B-7CBF264FF6AB}">
      <dsp:nvSpPr>
        <dsp:cNvPr id="0" name=""/>
        <dsp:cNvSpPr/>
      </dsp:nvSpPr>
      <dsp:spPr>
        <a:xfrm>
          <a:off x="1172126" y="2545532"/>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kern="1200"/>
            <a:t>Postman testing confirmed the Flask app was responsive and reliable.</a:t>
          </a:r>
        </a:p>
      </dsp:txBody>
      <dsp:txXfrm>
        <a:off x="1172126" y="2545532"/>
        <a:ext cx="2114937" cy="897246"/>
      </dsp:txXfrm>
    </dsp:sp>
    <dsp:sp modelId="{995BE03E-033E-442E-8B9F-D91A067AE036}">
      <dsp:nvSpPr>
        <dsp:cNvPr id="0" name=""/>
        <dsp:cNvSpPr/>
      </dsp:nvSpPr>
      <dsp:spPr>
        <a:xfrm>
          <a:off x="3655575" y="2545532"/>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7E5B390-1BDD-4356-BC0F-522C1FB11D89}">
      <dsp:nvSpPr>
        <dsp:cNvPr id="0" name=""/>
        <dsp:cNvSpPr/>
      </dsp:nvSpPr>
      <dsp:spPr>
        <a:xfrm>
          <a:off x="3843996" y="2733954"/>
          <a:ext cx="520402" cy="520402"/>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83E9235-D309-44A5-960C-88C328F616CD}">
      <dsp:nvSpPr>
        <dsp:cNvPr id="0" name=""/>
        <dsp:cNvSpPr/>
      </dsp:nvSpPr>
      <dsp:spPr>
        <a:xfrm>
          <a:off x="4745088" y="2545532"/>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kern="1200"/>
            <a:t>The system is lightweight and can easily be scaled or deployed online.</a:t>
          </a:r>
        </a:p>
      </dsp:txBody>
      <dsp:txXfrm>
        <a:off x="4745088" y="2545532"/>
        <a:ext cx="2114937" cy="897246"/>
      </dsp:txXfrm>
    </dsp:sp>
  </dsp:spTree>
</dsp:drawing>
</file>

<file path=ppt/diagrams/layout1.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3F162-75AC-D084-6476-BFF1433195B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F04773DD-B18B-E47D-7AA2-67E33342D3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41E1A2BC-6EE4-B63E-098D-D874601C64E6}"/>
              </a:ext>
            </a:extLst>
          </p:cNvPr>
          <p:cNvSpPr>
            <a:spLocks noGrp="1"/>
          </p:cNvSpPr>
          <p:nvPr>
            <p:ph type="dt" sz="half" idx="10"/>
          </p:nvPr>
        </p:nvSpPr>
        <p:spPr/>
        <p:txBody>
          <a:bodyPr/>
          <a:lstStyle/>
          <a:p>
            <a:fld id="{5B5D6C76-8385-41D4-B019-37B80547E07E}" type="datetimeFigureOut">
              <a:rPr lang="en-CA" smtClean="0"/>
              <a:t>2025-04-14</a:t>
            </a:fld>
            <a:endParaRPr lang="en-CA"/>
          </a:p>
        </p:txBody>
      </p:sp>
      <p:sp>
        <p:nvSpPr>
          <p:cNvPr id="5" name="Footer Placeholder 4">
            <a:extLst>
              <a:ext uri="{FF2B5EF4-FFF2-40B4-BE49-F238E27FC236}">
                <a16:creationId xmlns:a16="http://schemas.microsoft.com/office/drawing/2014/main" id="{511F5C21-65E5-0119-BDE1-5F3671DCE777}"/>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517F120B-47D5-A331-8E32-C9FA00593347}"/>
              </a:ext>
            </a:extLst>
          </p:cNvPr>
          <p:cNvSpPr>
            <a:spLocks noGrp="1"/>
          </p:cNvSpPr>
          <p:nvPr>
            <p:ph type="sldNum" sz="quarter" idx="12"/>
          </p:nvPr>
        </p:nvSpPr>
        <p:spPr/>
        <p:txBody>
          <a:bodyPr/>
          <a:lstStyle/>
          <a:p>
            <a:fld id="{6C58A140-2781-4AD3-B559-C397C52CA3B3}" type="slidenum">
              <a:rPr lang="en-CA" smtClean="0"/>
              <a:t>‹#›</a:t>
            </a:fld>
            <a:endParaRPr lang="en-CA"/>
          </a:p>
        </p:txBody>
      </p:sp>
    </p:spTree>
    <p:extLst>
      <p:ext uri="{BB962C8B-B14F-4D97-AF65-F5344CB8AC3E}">
        <p14:creationId xmlns:p14="http://schemas.microsoft.com/office/powerpoint/2010/main" val="28277908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50F9F-228A-F9BD-3113-0DD883436D14}"/>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F3D1CF1D-0F9A-25F8-CCA0-FC4B0023D92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25EDF53C-AAF4-E3A1-5A47-418BBFCD0426}"/>
              </a:ext>
            </a:extLst>
          </p:cNvPr>
          <p:cNvSpPr>
            <a:spLocks noGrp="1"/>
          </p:cNvSpPr>
          <p:nvPr>
            <p:ph type="dt" sz="half" idx="10"/>
          </p:nvPr>
        </p:nvSpPr>
        <p:spPr/>
        <p:txBody>
          <a:bodyPr/>
          <a:lstStyle/>
          <a:p>
            <a:fld id="{5B5D6C76-8385-41D4-B019-37B80547E07E}" type="datetimeFigureOut">
              <a:rPr lang="en-CA" smtClean="0"/>
              <a:t>2025-04-14</a:t>
            </a:fld>
            <a:endParaRPr lang="en-CA"/>
          </a:p>
        </p:txBody>
      </p:sp>
      <p:sp>
        <p:nvSpPr>
          <p:cNvPr id="5" name="Footer Placeholder 4">
            <a:extLst>
              <a:ext uri="{FF2B5EF4-FFF2-40B4-BE49-F238E27FC236}">
                <a16:creationId xmlns:a16="http://schemas.microsoft.com/office/drawing/2014/main" id="{1751432E-240B-7569-DF12-D775D76F1881}"/>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8B97E0C2-52FC-A179-C069-A9A178C553B6}"/>
              </a:ext>
            </a:extLst>
          </p:cNvPr>
          <p:cNvSpPr>
            <a:spLocks noGrp="1"/>
          </p:cNvSpPr>
          <p:nvPr>
            <p:ph type="sldNum" sz="quarter" idx="12"/>
          </p:nvPr>
        </p:nvSpPr>
        <p:spPr/>
        <p:txBody>
          <a:bodyPr/>
          <a:lstStyle/>
          <a:p>
            <a:fld id="{6C58A140-2781-4AD3-B559-C397C52CA3B3}" type="slidenum">
              <a:rPr lang="en-CA" smtClean="0"/>
              <a:t>‹#›</a:t>
            </a:fld>
            <a:endParaRPr lang="en-CA"/>
          </a:p>
        </p:txBody>
      </p:sp>
    </p:spTree>
    <p:extLst>
      <p:ext uri="{BB962C8B-B14F-4D97-AF65-F5344CB8AC3E}">
        <p14:creationId xmlns:p14="http://schemas.microsoft.com/office/powerpoint/2010/main" val="11702013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46466-18D2-D736-D7F4-3B62914C9C3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3FDA4E16-958A-289B-7FEC-DA7A6A636C6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32010C0-ED41-06FC-3A83-E8249DDC7C0D}"/>
              </a:ext>
            </a:extLst>
          </p:cNvPr>
          <p:cNvSpPr>
            <a:spLocks noGrp="1"/>
          </p:cNvSpPr>
          <p:nvPr>
            <p:ph type="dt" sz="half" idx="10"/>
          </p:nvPr>
        </p:nvSpPr>
        <p:spPr/>
        <p:txBody>
          <a:bodyPr/>
          <a:lstStyle/>
          <a:p>
            <a:fld id="{5B5D6C76-8385-41D4-B019-37B80547E07E}" type="datetimeFigureOut">
              <a:rPr lang="en-CA" smtClean="0"/>
              <a:t>2025-04-14</a:t>
            </a:fld>
            <a:endParaRPr lang="en-CA"/>
          </a:p>
        </p:txBody>
      </p:sp>
      <p:sp>
        <p:nvSpPr>
          <p:cNvPr id="5" name="Footer Placeholder 4">
            <a:extLst>
              <a:ext uri="{FF2B5EF4-FFF2-40B4-BE49-F238E27FC236}">
                <a16:creationId xmlns:a16="http://schemas.microsoft.com/office/drawing/2014/main" id="{D4C79A3B-DD25-610E-775F-C72E4DB63A91}"/>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D29B1029-F6CB-1283-444C-2C35FB00685D}"/>
              </a:ext>
            </a:extLst>
          </p:cNvPr>
          <p:cNvSpPr>
            <a:spLocks noGrp="1"/>
          </p:cNvSpPr>
          <p:nvPr>
            <p:ph type="sldNum" sz="quarter" idx="12"/>
          </p:nvPr>
        </p:nvSpPr>
        <p:spPr/>
        <p:txBody>
          <a:bodyPr/>
          <a:lstStyle/>
          <a:p>
            <a:fld id="{6C58A140-2781-4AD3-B559-C397C52CA3B3}" type="slidenum">
              <a:rPr lang="en-CA" smtClean="0"/>
              <a:t>‹#›</a:t>
            </a:fld>
            <a:endParaRPr lang="en-CA"/>
          </a:p>
        </p:txBody>
      </p:sp>
    </p:spTree>
    <p:extLst>
      <p:ext uri="{BB962C8B-B14F-4D97-AF65-F5344CB8AC3E}">
        <p14:creationId xmlns:p14="http://schemas.microsoft.com/office/powerpoint/2010/main" val="41365626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59E72-1F7C-23A0-0D2A-C11F95108B8D}"/>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CF0CEE43-B906-2A89-D3B7-DF8F2C93500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80CB9FE3-03C9-F5E9-140B-5EA7C4396D5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B06FEFC2-EF9E-3117-B5D4-F558D40E23E3}"/>
              </a:ext>
            </a:extLst>
          </p:cNvPr>
          <p:cNvSpPr>
            <a:spLocks noGrp="1"/>
          </p:cNvSpPr>
          <p:nvPr>
            <p:ph type="dt" sz="half" idx="10"/>
          </p:nvPr>
        </p:nvSpPr>
        <p:spPr/>
        <p:txBody>
          <a:bodyPr/>
          <a:lstStyle/>
          <a:p>
            <a:fld id="{5B5D6C76-8385-41D4-B019-37B80547E07E}" type="datetimeFigureOut">
              <a:rPr lang="en-CA" smtClean="0"/>
              <a:t>2025-04-14</a:t>
            </a:fld>
            <a:endParaRPr lang="en-CA"/>
          </a:p>
        </p:txBody>
      </p:sp>
      <p:sp>
        <p:nvSpPr>
          <p:cNvPr id="6" name="Footer Placeholder 5">
            <a:extLst>
              <a:ext uri="{FF2B5EF4-FFF2-40B4-BE49-F238E27FC236}">
                <a16:creationId xmlns:a16="http://schemas.microsoft.com/office/drawing/2014/main" id="{9BEB8455-4AD2-521F-267F-705CC3A1BDB5}"/>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7AF7FA2B-35E1-CD84-A75B-F9DF42CB3E5A}"/>
              </a:ext>
            </a:extLst>
          </p:cNvPr>
          <p:cNvSpPr>
            <a:spLocks noGrp="1"/>
          </p:cNvSpPr>
          <p:nvPr>
            <p:ph type="sldNum" sz="quarter" idx="12"/>
          </p:nvPr>
        </p:nvSpPr>
        <p:spPr/>
        <p:txBody>
          <a:bodyPr/>
          <a:lstStyle/>
          <a:p>
            <a:fld id="{6C58A140-2781-4AD3-B559-C397C52CA3B3}" type="slidenum">
              <a:rPr lang="en-CA" smtClean="0"/>
              <a:t>‹#›</a:t>
            </a:fld>
            <a:endParaRPr lang="en-CA"/>
          </a:p>
        </p:txBody>
      </p:sp>
    </p:spTree>
    <p:extLst>
      <p:ext uri="{BB962C8B-B14F-4D97-AF65-F5344CB8AC3E}">
        <p14:creationId xmlns:p14="http://schemas.microsoft.com/office/powerpoint/2010/main" val="21696178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16DDA-F3EA-814B-8D98-0845356DE9D4}"/>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8664ECE8-6AF1-4B9E-148C-501E6FB32C6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BE09BA8-E653-92EB-E00D-D705DD4B787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4E6C8620-F02A-D4E0-A620-510D650634F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9CFB73F-A845-E427-240D-A6DA548CA1F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36CC2906-A3A4-B21D-32E5-53AC440967A1}"/>
              </a:ext>
            </a:extLst>
          </p:cNvPr>
          <p:cNvSpPr>
            <a:spLocks noGrp="1"/>
          </p:cNvSpPr>
          <p:nvPr>
            <p:ph type="dt" sz="half" idx="10"/>
          </p:nvPr>
        </p:nvSpPr>
        <p:spPr/>
        <p:txBody>
          <a:bodyPr/>
          <a:lstStyle/>
          <a:p>
            <a:fld id="{5B5D6C76-8385-41D4-B019-37B80547E07E}" type="datetimeFigureOut">
              <a:rPr lang="en-CA" smtClean="0"/>
              <a:t>2025-04-14</a:t>
            </a:fld>
            <a:endParaRPr lang="en-CA"/>
          </a:p>
        </p:txBody>
      </p:sp>
      <p:sp>
        <p:nvSpPr>
          <p:cNvPr id="8" name="Footer Placeholder 7">
            <a:extLst>
              <a:ext uri="{FF2B5EF4-FFF2-40B4-BE49-F238E27FC236}">
                <a16:creationId xmlns:a16="http://schemas.microsoft.com/office/drawing/2014/main" id="{388B0E63-9AEE-3CD4-AECC-2F75B5AEBAFA}"/>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18562453-A992-85B0-E3F9-16AC46E82A9E}"/>
              </a:ext>
            </a:extLst>
          </p:cNvPr>
          <p:cNvSpPr>
            <a:spLocks noGrp="1"/>
          </p:cNvSpPr>
          <p:nvPr>
            <p:ph type="sldNum" sz="quarter" idx="12"/>
          </p:nvPr>
        </p:nvSpPr>
        <p:spPr/>
        <p:txBody>
          <a:bodyPr/>
          <a:lstStyle/>
          <a:p>
            <a:fld id="{6C58A140-2781-4AD3-B559-C397C52CA3B3}" type="slidenum">
              <a:rPr lang="en-CA" smtClean="0"/>
              <a:t>‹#›</a:t>
            </a:fld>
            <a:endParaRPr lang="en-CA"/>
          </a:p>
        </p:txBody>
      </p:sp>
    </p:spTree>
    <p:extLst>
      <p:ext uri="{BB962C8B-B14F-4D97-AF65-F5344CB8AC3E}">
        <p14:creationId xmlns:p14="http://schemas.microsoft.com/office/powerpoint/2010/main" val="41681190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A5BFDE-DDA9-94F5-08AD-861B9D76A26C}"/>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A84A5F68-B8EE-B274-5923-0B5DD4BC07C9}"/>
              </a:ext>
            </a:extLst>
          </p:cNvPr>
          <p:cNvSpPr>
            <a:spLocks noGrp="1"/>
          </p:cNvSpPr>
          <p:nvPr>
            <p:ph type="dt" sz="half" idx="10"/>
          </p:nvPr>
        </p:nvSpPr>
        <p:spPr/>
        <p:txBody>
          <a:bodyPr/>
          <a:lstStyle/>
          <a:p>
            <a:fld id="{5B5D6C76-8385-41D4-B019-37B80547E07E}" type="datetimeFigureOut">
              <a:rPr lang="en-CA" smtClean="0"/>
              <a:t>2025-04-14</a:t>
            </a:fld>
            <a:endParaRPr lang="en-CA"/>
          </a:p>
        </p:txBody>
      </p:sp>
      <p:sp>
        <p:nvSpPr>
          <p:cNvPr id="4" name="Footer Placeholder 3">
            <a:extLst>
              <a:ext uri="{FF2B5EF4-FFF2-40B4-BE49-F238E27FC236}">
                <a16:creationId xmlns:a16="http://schemas.microsoft.com/office/drawing/2014/main" id="{A26112F0-2FB0-E4F8-3B1B-1F30F258409E}"/>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5CB98C34-35BC-6378-0A01-D37E61C3D212}"/>
              </a:ext>
            </a:extLst>
          </p:cNvPr>
          <p:cNvSpPr>
            <a:spLocks noGrp="1"/>
          </p:cNvSpPr>
          <p:nvPr>
            <p:ph type="sldNum" sz="quarter" idx="12"/>
          </p:nvPr>
        </p:nvSpPr>
        <p:spPr/>
        <p:txBody>
          <a:bodyPr/>
          <a:lstStyle/>
          <a:p>
            <a:fld id="{6C58A140-2781-4AD3-B559-C397C52CA3B3}" type="slidenum">
              <a:rPr lang="en-CA" smtClean="0"/>
              <a:t>‹#›</a:t>
            </a:fld>
            <a:endParaRPr lang="en-CA"/>
          </a:p>
        </p:txBody>
      </p:sp>
    </p:spTree>
    <p:extLst>
      <p:ext uri="{BB962C8B-B14F-4D97-AF65-F5344CB8AC3E}">
        <p14:creationId xmlns:p14="http://schemas.microsoft.com/office/powerpoint/2010/main" val="19144478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D2FCF80-81A1-17EE-2D17-5F95EB56DB33}"/>
              </a:ext>
            </a:extLst>
          </p:cNvPr>
          <p:cNvSpPr>
            <a:spLocks noGrp="1"/>
          </p:cNvSpPr>
          <p:nvPr>
            <p:ph type="dt" sz="half" idx="10"/>
          </p:nvPr>
        </p:nvSpPr>
        <p:spPr/>
        <p:txBody>
          <a:bodyPr/>
          <a:lstStyle/>
          <a:p>
            <a:fld id="{5B5D6C76-8385-41D4-B019-37B80547E07E}" type="datetimeFigureOut">
              <a:rPr lang="en-CA" smtClean="0"/>
              <a:t>2025-04-14</a:t>
            </a:fld>
            <a:endParaRPr lang="en-CA"/>
          </a:p>
        </p:txBody>
      </p:sp>
      <p:sp>
        <p:nvSpPr>
          <p:cNvPr id="3" name="Footer Placeholder 2">
            <a:extLst>
              <a:ext uri="{FF2B5EF4-FFF2-40B4-BE49-F238E27FC236}">
                <a16:creationId xmlns:a16="http://schemas.microsoft.com/office/drawing/2014/main" id="{27F3C1A3-AA95-92CA-5854-28E779C4A1C6}"/>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BBFDCB43-16E5-F6F4-4451-97BE5E89789A}"/>
              </a:ext>
            </a:extLst>
          </p:cNvPr>
          <p:cNvSpPr>
            <a:spLocks noGrp="1"/>
          </p:cNvSpPr>
          <p:nvPr>
            <p:ph type="sldNum" sz="quarter" idx="12"/>
          </p:nvPr>
        </p:nvSpPr>
        <p:spPr/>
        <p:txBody>
          <a:bodyPr/>
          <a:lstStyle/>
          <a:p>
            <a:fld id="{6C58A140-2781-4AD3-B559-C397C52CA3B3}" type="slidenum">
              <a:rPr lang="en-CA" smtClean="0"/>
              <a:t>‹#›</a:t>
            </a:fld>
            <a:endParaRPr lang="en-CA"/>
          </a:p>
        </p:txBody>
      </p:sp>
    </p:spTree>
    <p:extLst>
      <p:ext uri="{BB962C8B-B14F-4D97-AF65-F5344CB8AC3E}">
        <p14:creationId xmlns:p14="http://schemas.microsoft.com/office/powerpoint/2010/main" val="35376399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E2742-D447-DD7B-8652-0AB5FB0649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1208AE4D-7AAE-E3E1-A9D2-CC3E1E21780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719FDCE7-9358-843B-8AB9-3B8D864DA5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AA2628-1089-144A-EFE2-95A1B7A22C05}"/>
              </a:ext>
            </a:extLst>
          </p:cNvPr>
          <p:cNvSpPr>
            <a:spLocks noGrp="1"/>
          </p:cNvSpPr>
          <p:nvPr>
            <p:ph type="dt" sz="half" idx="10"/>
          </p:nvPr>
        </p:nvSpPr>
        <p:spPr/>
        <p:txBody>
          <a:bodyPr/>
          <a:lstStyle/>
          <a:p>
            <a:fld id="{5B5D6C76-8385-41D4-B019-37B80547E07E}" type="datetimeFigureOut">
              <a:rPr lang="en-CA" smtClean="0"/>
              <a:t>2025-04-14</a:t>
            </a:fld>
            <a:endParaRPr lang="en-CA"/>
          </a:p>
        </p:txBody>
      </p:sp>
      <p:sp>
        <p:nvSpPr>
          <p:cNvPr id="6" name="Footer Placeholder 5">
            <a:extLst>
              <a:ext uri="{FF2B5EF4-FFF2-40B4-BE49-F238E27FC236}">
                <a16:creationId xmlns:a16="http://schemas.microsoft.com/office/drawing/2014/main" id="{EF984B88-CF54-1C7D-8664-8FA3ACA69B21}"/>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766620FE-06DD-3A52-37DC-F779E6F99452}"/>
              </a:ext>
            </a:extLst>
          </p:cNvPr>
          <p:cNvSpPr>
            <a:spLocks noGrp="1"/>
          </p:cNvSpPr>
          <p:nvPr>
            <p:ph type="sldNum" sz="quarter" idx="12"/>
          </p:nvPr>
        </p:nvSpPr>
        <p:spPr/>
        <p:txBody>
          <a:bodyPr/>
          <a:lstStyle/>
          <a:p>
            <a:fld id="{6C58A140-2781-4AD3-B559-C397C52CA3B3}" type="slidenum">
              <a:rPr lang="en-CA" smtClean="0"/>
              <a:t>‹#›</a:t>
            </a:fld>
            <a:endParaRPr lang="en-CA"/>
          </a:p>
        </p:txBody>
      </p:sp>
    </p:spTree>
    <p:extLst>
      <p:ext uri="{BB962C8B-B14F-4D97-AF65-F5344CB8AC3E}">
        <p14:creationId xmlns:p14="http://schemas.microsoft.com/office/powerpoint/2010/main" val="42673472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9961D-CB8B-49DF-12B4-FEFE4A2A8A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C188DBB7-BC21-8511-BCED-54C71D12FB8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4E0E8BC9-2B1F-F0EB-FE43-5501EC12A1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FD2CF4-3FB5-80F5-854F-E408EF4534E6}"/>
              </a:ext>
            </a:extLst>
          </p:cNvPr>
          <p:cNvSpPr>
            <a:spLocks noGrp="1"/>
          </p:cNvSpPr>
          <p:nvPr>
            <p:ph type="dt" sz="half" idx="10"/>
          </p:nvPr>
        </p:nvSpPr>
        <p:spPr/>
        <p:txBody>
          <a:bodyPr/>
          <a:lstStyle/>
          <a:p>
            <a:fld id="{5B5D6C76-8385-41D4-B019-37B80547E07E}" type="datetimeFigureOut">
              <a:rPr lang="en-CA" smtClean="0"/>
              <a:t>2025-04-14</a:t>
            </a:fld>
            <a:endParaRPr lang="en-CA"/>
          </a:p>
        </p:txBody>
      </p:sp>
      <p:sp>
        <p:nvSpPr>
          <p:cNvPr id="6" name="Footer Placeholder 5">
            <a:extLst>
              <a:ext uri="{FF2B5EF4-FFF2-40B4-BE49-F238E27FC236}">
                <a16:creationId xmlns:a16="http://schemas.microsoft.com/office/drawing/2014/main" id="{77C29800-42AF-DBD0-182A-A22E2AC780DE}"/>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DEC340CE-63ED-E6FA-33A5-6BAAAA5D6A3E}"/>
              </a:ext>
            </a:extLst>
          </p:cNvPr>
          <p:cNvSpPr>
            <a:spLocks noGrp="1"/>
          </p:cNvSpPr>
          <p:nvPr>
            <p:ph type="sldNum" sz="quarter" idx="12"/>
          </p:nvPr>
        </p:nvSpPr>
        <p:spPr/>
        <p:txBody>
          <a:bodyPr/>
          <a:lstStyle/>
          <a:p>
            <a:fld id="{6C58A140-2781-4AD3-B559-C397C52CA3B3}" type="slidenum">
              <a:rPr lang="en-CA" smtClean="0"/>
              <a:t>‹#›</a:t>
            </a:fld>
            <a:endParaRPr lang="en-CA"/>
          </a:p>
        </p:txBody>
      </p:sp>
    </p:spTree>
    <p:extLst>
      <p:ext uri="{BB962C8B-B14F-4D97-AF65-F5344CB8AC3E}">
        <p14:creationId xmlns:p14="http://schemas.microsoft.com/office/powerpoint/2010/main" val="10193000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5C0AB2-01A6-469B-6456-551A4A3A2CC0}"/>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C329C3B3-D25F-A11C-10E8-D229E7604A9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0CCAB7B2-64F7-643B-98CD-A08C4A870019}"/>
              </a:ext>
            </a:extLst>
          </p:cNvPr>
          <p:cNvSpPr>
            <a:spLocks noGrp="1"/>
          </p:cNvSpPr>
          <p:nvPr>
            <p:ph type="dt" sz="half" idx="10"/>
          </p:nvPr>
        </p:nvSpPr>
        <p:spPr/>
        <p:txBody>
          <a:bodyPr/>
          <a:lstStyle/>
          <a:p>
            <a:fld id="{5B5D6C76-8385-41D4-B019-37B80547E07E}" type="datetimeFigureOut">
              <a:rPr lang="en-CA" smtClean="0"/>
              <a:t>2025-04-14</a:t>
            </a:fld>
            <a:endParaRPr lang="en-CA"/>
          </a:p>
        </p:txBody>
      </p:sp>
      <p:sp>
        <p:nvSpPr>
          <p:cNvPr id="5" name="Footer Placeholder 4">
            <a:extLst>
              <a:ext uri="{FF2B5EF4-FFF2-40B4-BE49-F238E27FC236}">
                <a16:creationId xmlns:a16="http://schemas.microsoft.com/office/drawing/2014/main" id="{503E9262-FEBC-371A-06C3-3254FF29B342}"/>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59B31EC5-04BB-F807-87BE-E7BB1587CA1C}"/>
              </a:ext>
            </a:extLst>
          </p:cNvPr>
          <p:cNvSpPr>
            <a:spLocks noGrp="1"/>
          </p:cNvSpPr>
          <p:nvPr>
            <p:ph type="sldNum" sz="quarter" idx="12"/>
          </p:nvPr>
        </p:nvSpPr>
        <p:spPr/>
        <p:txBody>
          <a:bodyPr/>
          <a:lstStyle/>
          <a:p>
            <a:fld id="{6C58A140-2781-4AD3-B559-C397C52CA3B3}" type="slidenum">
              <a:rPr lang="en-CA" smtClean="0"/>
              <a:t>‹#›</a:t>
            </a:fld>
            <a:endParaRPr lang="en-CA"/>
          </a:p>
        </p:txBody>
      </p:sp>
    </p:spTree>
    <p:extLst>
      <p:ext uri="{BB962C8B-B14F-4D97-AF65-F5344CB8AC3E}">
        <p14:creationId xmlns:p14="http://schemas.microsoft.com/office/powerpoint/2010/main" val="22839570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547133A-61FB-03F9-CEE7-5A22E4FFFC9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4ACDC14D-93FA-93D9-D8F7-090DBF1A3C3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B323AC8C-69CA-08E4-2C4A-761D6B9A271B}"/>
              </a:ext>
            </a:extLst>
          </p:cNvPr>
          <p:cNvSpPr>
            <a:spLocks noGrp="1"/>
          </p:cNvSpPr>
          <p:nvPr>
            <p:ph type="dt" sz="half" idx="10"/>
          </p:nvPr>
        </p:nvSpPr>
        <p:spPr/>
        <p:txBody>
          <a:bodyPr/>
          <a:lstStyle/>
          <a:p>
            <a:fld id="{5B5D6C76-8385-41D4-B019-37B80547E07E}" type="datetimeFigureOut">
              <a:rPr lang="en-CA" smtClean="0"/>
              <a:t>2025-04-14</a:t>
            </a:fld>
            <a:endParaRPr lang="en-CA"/>
          </a:p>
        </p:txBody>
      </p:sp>
      <p:sp>
        <p:nvSpPr>
          <p:cNvPr id="5" name="Footer Placeholder 4">
            <a:extLst>
              <a:ext uri="{FF2B5EF4-FFF2-40B4-BE49-F238E27FC236}">
                <a16:creationId xmlns:a16="http://schemas.microsoft.com/office/drawing/2014/main" id="{4D13BD5B-F7F4-2447-F3C5-A9BA0EC0AA38}"/>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D223D428-DD69-B0FB-6F2E-2248C6481287}"/>
              </a:ext>
            </a:extLst>
          </p:cNvPr>
          <p:cNvSpPr>
            <a:spLocks noGrp="1"/>
          </p:cNvSpPr>
          <p:nvPr>
            <p:ph type="sldNum" sz="quarter" idx="12"/>
          </p:nvPr>
        </p:nvSpPr>
        <p:spPr/>
        <p:txBody>
          <a:bodyPr/>
          <a:lstStyle/>
          <a:p>
            <a:fld id="{6C58A140-2781-4AD3-B559-C397C52CA3B3}" type="slidenum">
              <a:rPr lang="en-CA" smtClean="0"/>
              <a:t>‹#›</a:t>
            </a:fld>
            <a:endParaRPr lang="en-CA"/>
          </a:p>
        </p:txBody>
      </p:sp>
    </p:spTree>
    <p:extLst>
      <p:ext uri="{BB962C8B-B14F-4D97-AF65-F5344CB8AC3E}">
        <p14:creationId xmlns:p14="http://schemas.microsoft.com/office/powerpoint/2010/main" val="9651011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2186A27-20E7-3156-A801-FFFBF809583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40F3EB72-53B7-A9E8-0ECE-CA9CD43B251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CAC04880-5B59-29CD-68C0-D425AD39F92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B5D6C76-8385-41D4-B019-37B80547E07E}" type="datetimeFigureOut">
              <a:rPr lang="en-CA" smtClean="0"/>
              <a:t>2025-04-14</a:t>
            </a:fld>
            <a:endParaRPr lang="en-CA"/>
          </a:p>
        </p:txBody>
      </p:sp>
      <p:sp>
        <p:nvSpPr>
          <p:cNvPr id="5" name="Footer Placeholder 4">
            <a:extLst>
              <a:ext uri="{FF2B5EF4-FFF2-40B4-BE49-F238E27FC236}">
                <a16:creationId xmlns:a16="http://schemas.microsoft.com/office/drawing/2014/main" id="{B5329415-56DF-40B7-4FAD-D83F507041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D9398B40-3A82-9FDD-82A6-28E33B7BC1D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C58A140-2781-4AD3-B559-C397C52CA3B3}" type="slidenum">
              <a:rPr lang="en-CA" smtClean="0"/>
              <a:t>‹#›</a:t>
            </a:fld>
            <a:endParaRPr lang="en-CA"/>
          </a:p>
        </p:txBody>
      </p:sp>
    </p:spTree>
    <p:extLst>
      <p:ext uri="{BB962C8B-B14F-4D97-AF65-F5344CB8AC3E}">
        <p14:creationId xmlns:p14="http://schemas.microsoft.com/office/powerpoint/2010/main" val="32581530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127.0.0.1:5000/"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9E7CF16C-9F1A-73EE-DB81-DCC1E54917DD}"/>
              </a:ext>
            </a:extLst>
          </p:cNvPr>
          <p:cNvSpPr>
            <a:spLocks noGrp="1"/>
          </p:cNvSpPr>
          <p:nvPr>
            <p:ph type="ctrTitle"/>
          </p:nvPr>
        </p:nvSpPr>
        <p:spPr>
          <a:xfrm>
            <a:off x="1314824" y="735106"/>
            <a:ext cx="10053763" cy="2928470"/>
          </a:xfrm>
        </p:spPr>
        <p:txBody>
          <a:bodyPr anchor="b">
            <a:normAutofit/>
          </a:bodyPr>
          <a:lstStyle/>
          <a:p>
            <a:pPr algn="l"/>
            <a:r>
              <a:rPr lang="en-US" sz="4800">
                <a:solidFill>
                  <a:srgbClr val="FFFFFF"/>
                </a:solidFill>
              </a:rPr>
              <a:t>Tweet Sentiment Classifier using Flask and Machine Learning</a:t>
            </a:r>
            <a:endParaRPr lang="en-CA" sz="4800">
              <a:solidFill>
                <a:srgbClr val="FFFFFF"/>
              </a:solidFill>
            </a:endParaRPr>
          </a:p>
        </p:txBody>
      </p:sp>
      <p:sp>
        <p:nvSpPr>
          <p:cNvPr id="3" name="Subtitle 2">
            <a:extLst>
              <a:ext uri="{FF2B5EF4-FFF2-40B4-BE49-F238E27FC236}">
                <a16:creationId xmlns:a16="http://schemas.microsoft.com/office/drawing/2014/main" id="{AD8EF86F-6049-62FD-7EE8-FD8A0B911EA8}"/>
              </a:ext>
            </a:extLst>
          </p:cNvPr>
          <p:cNvSpPr>
            <a:spLocks noGrp="1"/>
          </p:cNvSpPr>
          <p:nvPr>
            <p:ph type="subTitle" idx="1"/>
          </p:nvPr>
        </p:nvSpPr>
        <p:spPr>
          <a:xfrm>
            <a:off x="1350682" y="4870824"/>
            <a:ext cx="10005951" cy="1458258"/>
          </a:xfrm>
        </p:spPr>
        <p:txBody>
          <a:bodyPr anchor="ctr">
            <a:normAutofit/>
          </a:bodyPr>
          <a:lstStyle/>
          <a:p>
            <a:pPr algn="l"/>
            <a:r>
              <a:rPr lang="en-US" dirty="0"/>
              <a:t>AIDI 1003 – Machine Learning Frameworks</a:t>
            </a:r>
            <a:endParaRPr lang="en-CA"/>
          </a:p>
        </p:txBody>
      </p:sp>
    </p:spTree>
    <p:extLst>
      <p:ext uri="{BB962C8B-B14F-4D97-AF65-F5344CB8AC3E}">
        <p14:creationId xmlns:p14="http://schemas.microsoft.com/office/powerpoint/2010/main" val="20818621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7942995-B07F-4636-9A06-C6A104B26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6BD3663-3D5F-C559-AD4D-985AA209062A}"/>
              </a:ext>
            </a:extLst>
          </p:cNvPr>
          <p:cNvSpPr>
            <a:spLocks noGrp="1"/>
          </p:cNvSpPr>
          <p:nvPr>
            <p:ph type="title"/>
          </p:nvPr>
        </p:nvSpPr>
        <p:spPr>
          <a:xfrm>
            <a:off x="1113810" y="2960716"/>
            <a:ext cx="4036334" cy="2387600"/>
          </a:xfrm>
        </p:spPr>
        <p:txBody>
          <a:bodyPr vert="horz" lIns="91440" tIns="45720" rIns="91440" bIns="45720" rtlCol="0" anchor="t">
            <a:normAutofit/>
          </a:bodyPr>
          <a:lstStyle/>
          <a:p>
            <a:r>
              <a:rPr lang="en-US" sz="5400" kern="1200">
                <a:solidFill>
                  <a:schemeClr val="tx1"/>
                </a:solidFill>
                <a:latin typeface="+mj-lt"/>
                <a:ea typeface="+mj-ea"/>
                <a:cs typeface="+mj-cs"/>
              </a:rPr>
              <a:t>Team Members:</a:t>
            </a:r>
          </a:p>
        </p:txBody>
      </p:sp>
      <p:grpSp>
        <p:nvGrpSpPr>
          <p:cNvPr id="12" name="Group 11">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84992"/>
            <a:ext cx="731521" cy="673460"/>
            <a:chOff x="3940602" y="308034"/>
            <a:chExt cx="2116791" cy="3428999"/>
          </a:xfrm>
          <a:solidFill>
            <a:schemeClr val="accent4"/>
          </a:solidFill>
        </p:grpSpPr>
        <p:sp>
          <p:nvSpPr>
            <p:cNvPr id="13" name="Rectangle 12">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Table 4">
            <a:extLst>
              <a:ext uri="{FF2B5EF4-FFF2-40B4-BE49-F238E27FC236}">
                <a16:creationId xmlns:a16="http://schemas.microsoft.com/office/drawing/2014/main" id="{7C4CF7C0-BFD8-5F88-D094-303169C82E83}"/>
              </a:ext>
            </a:extLst>
          </p:cNvPr>
          <p:cNvGraphicFramePr>
            <a:graphicFrameLocks noGrp="1"/>
          </p:cNvGraphicFramePr>
          <p:nvPr>
            <p:extLst>
              <p:ext uri="{D42A27DB-BD31-4B8C-83A1-F6EECF244321}">
                <p14:modId xmlns:p14="http://schemas.microsoft.com/office/powerpoint/2010/main" val="2054052768"/>
              </p:ext>
            </p:extLst>
          </p:nvPr>
        </p:nvGraphicFramePr>
        <p:xfrm>
          <a:off x="5922492" y="1389837"/>
          <a:ext cx="5536002" cy="4019575"/>
        </p:xfrm>
        <a:graphic>
          <a:graphicData uri="http://schemas.openxmlformats.org/drawingml/2006/table">
            <a:tbl>
              <a:tblPr firstRow="1" bandRow="1"/>
              <a:tblGrid>
                <a:gridCol w="1841006">
                  <a:extLst>
                    <a:ext uri="{9D8B030D-6E8A-4147-A177-3AD203B41FA5}">
                      <a16:colId xmlns:a16="http://schemas.microsoft.com/office/drawing/2014/main" val="4050250437"/>
                    </a:ext>
                  </a:extLst>
                </a:gridCol>
                <a:gridCol w="1490462">
                  <a:extLst>
                    <a:ext uri="{9D8B030D-6E8A-4147-A177-3AD203B41FA5}">
                      <a16:colId xmlns:a16="http://schemas.microsoft.com/office/drawing/2014/main" val="1454725111"/>
                    </a:ext>
                  </a:extLst>
                </a:gridCol>
                <a:gridCol w="2204534">
                  <a:extLst>
                    <a:ext uri="{9D8B030D-6E8A-4147-A177-3AD203B41FA5}">
                      <a16:colId xmlns:a16="http://schemas.microsoft.com/office/drawing/2014/main" val="1930789185"/>
                    </a:ext>
                  </a:extLst>
                </a:gridCol>
              </a:tblGrid>
              <a:tr h="411306">
                <a:tc>
                  <a:txBody>
                    <a:bodyPr/>
                    <a:lstStyle/>
                    <a:p>
                      <a:r>
                        <a:rPr lang="en-CA" sz="1800"/>
                        <a:t>Name</a:t>
                      </a:r>
                    </a:p>
                  </a:txBody>
                  <a:tcPr marL="93478" marR="93478" marT="46739" marB="46739" anchor="ctr">
                    <a:lnL>
                      <a:noFill/>
                    </a:lnL>
                    <a:lnR>
                      <a:noFill/>
                    </a:lnR>
                    <a:lnT>
                      <a:noFill/>
                    </a:lnT>
                    <a:lnB>
                      <a:noFill/>
                    </a:lnB>
                    <a:noFill/>
                  </a:tcPr>
                </a:tc>
                <a:tc>
                  <a:txBody>
                    <a:bodyPr/>
                    <a:lstStyle/>
                    <a:p>
                      <a:r>
                        <a:rPr lang="en-CA" sz="1800"/>
                        <a:t>Student ID</a:t>
                      </a:r>
                    </a:p>
                  </a:txBody>
                  <a:tcPr marL="93478" marR="93478" marT="46739" marB="46739" anchor="ctr">
                    <a:lnL>
                      <a:noFill/>
                    </a:lnL>
                    <a:lnR>
                      <a:noFill/>
                    </a:lnR>
                    <a:lnT>
                      <a:noFill/>
                    </a:lnT>
                    <a:lnB>
                      <a:noFill/>
                    </a:lnB>
                    <a:noFill/>
                  </a:tcPr>
                </a:tc>
                <a:tc>
                  <a:txBody>
                    <a:bodyPr/>
                    <a:lstStyle/>
                    <a:p>
                      <a:r>
                        <a:rPr lang="en-CA" sz="1800"/>
                        <a:t>Role Description</a:t>
                      </a:r>
                    </a:p>
                  </a:txBody>
                  <a:tcPr marL="93478" marR="93478" marT="46739" marB="46739" anchor="ctr">
                    <a:lnL>
                      <a:noFill/>
                    </a:lnL>
                    <a:lnR>
                      <a:noFill/>
                    </a:lnR>
                    <a:lnT>
                      <a:noFill/>
                    </a:lnT>
                    <a:lnB>
                      <a:noFill/>
                    </a:lnB>
                    <a:noFill/>
                  </a:tcPr>
                </a:tc>
                <a:extLst>
                  <a:ext uri="{0D108BD9-81ED-4DB2-BD59-A6C34878D82A}">
                    <a16:rowId xmlns:a16="http://schemas.microsoft.com/office/drawing/2014/main" val="1459073359"/>
                  </a:ext>
                </a:extLst>
              </a:tr>
              <a:tr h="691741">
                <a:tc>
                  <a:txBody>
                    <a:bodyPr/>
                    <a:lstStyle/>
                    <a:p>
                      <a:r>
                        <a:rPr lang="en-CA" sz="1800"/>
                        <a:t>Akshit Sharma</a:t>
                      </a:r>
                    </a:p>
                  </a:txBody>
                  <a:tcPr marL="93478" marR="93478" marT="46739" marB="46739" anchor="ctr">
                    <a:lnL>
                      <a:noFill/>
                    </a:lnL>
                    <a:lnR>
                      <a:noFill/>
                    </a:lnR>
                    <a:lnT>
                      <a:noFill/>
                    </a:lnT>
                    <a:lnB>
                      <a:noFill/>
                    </a:lnB>
                    <a:noFill/>
                  </a:tcPr>
                </a:tc>
                <a:tc>
                  <a:txBody>
                    <a:bodyPr/>
                    <a:lstStyle/>
                    <a:p>
                      <a:r>
                        <a:rPr lang="en-CA" sz="1800"/>
                        <a:t>200577950</a:t>
                      </a:r>
                    </a:p>
                  </a:txBody>
                  <a:tcPr marL="93478" marR="93478" marT="46739" marB="46739" anchor="ctr">
                    <a:lnL>
                      <a:noFill/>
                    </a:lnL>
                    <a:lnR>
                      <a:noFill/>
                    </a:lnR>
                    <a:lnT>
                      <a:noFill/>
                    </a:lnT>
                    <a:lnB>
                      <a:noFill/>
                    </a:lnB>
                    <a:noFill/>
                  </a:tcPr>
                </a:tc>
                <a:tc>
                  <a:txBody>
                    <a:bodyPr/>
                    <a:lstStyle/>
                    <a:p>
                      <a:r>
                        <a:rPr lang="en-CA" sz="1800"/>
                        <a:t>Data Cleaning &amp; Preprocessing</a:t>
                      </a:r>
                    </a:p>
                  </a:txBody>
                  <a:tcPr marL="93478" marR="93478" marT="46739" marB="46739" anchor="ctr">
                    <a:lnL>
                      <a:noFill/>
                    </a:lnL>
                    <a:lnR>
                      <a:noFill/>
                    </a:lnR>
                    <a:lnT>
                      <a:noFill/>
                    </a:lnT>
                    <a:lnB>
                      <a:noFill/>
                    </a:lnB>
                    <a:noFill/>
                  </a:tcPr>
                </a:tc>
                <a:extLst>
                  <a:ext uri="{0D108BD9-81ED-4DB2-BD59-A6C34878D82A}">
                    <a16:rowId xmlns:a16="http://schemas.microsoft.com/office/drawing/2014/main" val="1126815221"/>
                  </a:ext>
                </a:extLst>
              </a:tr>
              <a:tr h="972176">
                <a:tc>
                  <a:txBody>
                    <a:bodyPr/>
                    <a:lstStyle/>
                    <a:p>
                      <a:r>
                        <a:rPr lang="en-CA" sz="1800"/>
                        <a:t>Jomol Joy</a:t>
                      </a:r>
                    </a:p>
                  </a:txBody>
                  <a:tcPr marL="93478" marR="93478" marT="46739" marB="46739" anchor="ctr">
                    <a:lnL>
                      <a:noFill/>
                    </a:lnL>
                    <a:lnR>
                      <a:noFill/>
                    </a:lnR>
                    <a:lnT>
                      <a:noFill/>
                    </a:lnT>
                    <a:lnB>
                      <a:noFill/>
                    </a:lnB>
                    <a:noFill/>
                  </a:tcPr>
                </a:tc>
                <a:tc>
                  <a:txBody>
                    <a:bodyPr/>
                    <a:lstStyle/>
                    <a:p>
                      <a:r>
                        <a:rPr lang="en-CA" sz="1800"/>
                        <a:t>200577097</a:t>
                      </a:r>
                    </a:p>
                  </a:txBody>
                  <a:tcPr marL="93478" marR="93478" marT="46739" marB="46739" anchor="ctr">
                    <a:lnL>
                      <a:noFill/>
                    </a:lnL>
                    <a:lnR>
                      <a:noFill/>
                    </a:lnR>
                    <a:lnT>
                      <a:noFill/>
                    </a:lnT>
                    <a:lnB>
                      <a:noFill/>
                    </a:lnB>
                    <a:noFill/>
                  </a:tcPr>
                </a:tc>
                <a:tc>
                  <a:txBody>
                    <a:bodyPr/>
                    <a:lstStyle/>
                    <a:p>
                      <a:r>
                        <a:rPr lang="en-CA" sz="1800"/>
                        <a:t>Exploratory Data Analysis &amp; Visualizations</a:t>
                      </a:r>
                    </a:p>
                  </a:txBody>
                  <a:tcPr marL="93478" marR="93478" marT="46739" marB="46739" anchor="ctr">
                    <a:lnL>
                      <a:noFill/>
                    </a:lnL>
                    <a:lnR>
                      <a:noFill/>
                    </a:lnR>
                    <a:lnT>
                      <a:noFill/>
                    </a:lnT>
                    <a:lnB>
                      <a:noFill/>
                    </a:lnB>
                    <a:noFill/>
                  </a:tcPr>
                </a:tc>
                <a:extLst>
                  <a:ext uri="{0D108BD9-81ED-4DB2-BD59-A6C34878D82A}">
                    <a16:rowId xmlns:a16="http://schemas.microsoft.com/office/drawing/2014/main" val="3303039628"/>
                  </a:ext>
                </a:extLst>
              </a:tr>
              <a:tr h="972176">
                <a:tc>
                  <a:txBody>
                    <a:bodyPr/>
                    <a:lstStyle/>
                    <a:p>
                      <a:r>
                        <a:rPr lang="en-CA" sz="1800"/>
                        <a:t>Priyanka Thomas</a:t>
                      </a:r>
                    </a:p>
                  </a:txBody>
                  <a:tcPr marL="93478" marR="93478" marT="46739" marB="46739" anchor="ctr">
                    <a:lnL>
                      <a:noFill/>
                    </a:lnL>
                    <a:lnR>
                      <a:noFill/>
                    </a:lnR>
                    <a:lnT>
                      <a:noFill/>
                    </a:lnT>
                    <a:lnB>
                      <a:noFill/>
                    </a:lnB>
                    <a:noFill/>
                  </a:tcPr>
                </a:tc>
                <a:tc>
                  <a:txBody>
                    <a:bodyPr/>
                    <a:lstStyle/>
                    <a:p>
                      <a:r>
                        <a:rPr lang="en-CA" sz="1800"/>
                        <a:t>200587559</a:t>
                      </a:r>
                    </a:p>
                  </a:txBody>
                  <a:tcPr marL="93478" marR="93478" marT="46739" marB="46739" anchor="ctr">
                    <a:lnL>
                      <a:noFill/>
                    </a:lnL>
                    <a:lnR>
                      <a:noFill/>
                    </a:lnR>
                    <a:lnT>
                      <a:noFill/>
                    </a:lnT>
                    <a:lnB>
                      <a:noFill/>
                    </a:lnB>
                    <a:noFill/>
                  </a:tcPr>
                </a:tc>
                <a:tc>
                  <a:txBody>
                    <a:bodyPr/>
                    <a:lstStyle/>
                    <a:p>
                      <a:r>
                        <a:rPr lang="en-CA" sz="1800" dirty="0"/>
                        <a:t>Model Training, Tuning &amp; Evaluation</a:t>
                      </a:r>
                    </a:p>
                  </a:txBody>
                  <a:tcPr marL="93478" marR="93478" marT="46739" marB="46739" anchor="ctr">
                    <a:lnL>
                      <a:noFill/>
                    </a:lnL>
                    <a:lnR>
                      <a:noFill/>
                    </a:lnR>
                    <a:lnT>
                      <a:noFill/>
                    </a:lnT>
                    <a:lnB>
                      <a:noFill/>
                    </a:lnB>
                    <a:noFill/>
                  </a:tcPr>
                </a:tc>
                <a:extLst>
                  <a:ext uri="{0D108BD9-81ED-4DB2-BD59-A6C34878D82A}">
                    <a16:rowId xmlns:a16="http://schemas.microsoft.com/office/drawing/2014/main" val="934991051"/>
                  </a:ext>
                </a:extLst>
              </a:tr>
              <a:tr h="972176">
                <a:tc>
                  <a:txBody>
                    <a:bodyPr/>
                    <a:lstStyle/>
                    <a:p>
                      <a:r>
                        <a:rPr lang="en-CA" sz="1800"/>
                        <a:t>Sanat Sunny</a:t>
                      </a:r>
                    </a:p>
                  </a:txBody>
                  <a:tcPr marL="93478" marR="93478" marT="46739" marB="46739" anchor="ctr">
                    <a:lnL>
                      <a:noFill/>
                    </a:lnL>
                    <a:lnR>
                      <a:noFill/>
                    </a:lnR>
                    <a:lnT>
                      <a:noFill/>
                    </a:lnT>
                    <a:lnB>
                      <a:noFill/>
                    </a:lnB>
                    <a:noFill/>
                  </a:tcPr>
                </a:tc>
                <a:tc>
                  <a:txBody>
                    <a:bodyPr/>
                    <a:lstStyle/>
                    <a:p>
                      <a:r>
                        <a:rPr lang="en-CA" sz="1800"/>
                        <a:t>200576550</a:t>
                      </a:r>
                    </a:p>
                  </a:txBody>
                  <a:tcPr marL="93478" marR="93478" marT="46739" marB="46739" anchor="ctr">
                    <a:lnL>
                      <a:noFill/>
                    </a:lnL>
                    <a:lnR>
                      <a:noFill/>
                    </a:lnR>
                    <a:lnT>
                      <a:noFill/>
                    </a:lnT>
                    <a:lnB>
                      <a:noFill/>
                    </a:lnB>
                    <a:noFill/>
                  </a:tcPr>
                </a:tc>
                <a:tc>
                  <a:txBody>
                    <a:bodyPr/>
                    <a:lstStyle/>
                    <a:p>
                      <a:r>
                        <a:rPr lang="en-US" sz="1800" dirty="0"/>
                        <a:t>Deployment (Flask API) &amp; Final Presentation Prep</a:t>
                      </a:r>
                    </a:p>
                  </a:txBody>
                  <a:tcPr marL="93478" marR="93478" marT="46739" marB="46739" anchor="ctr">
                    <a:lnL>
                      <a:noFill/>
                    </a:lnL>
                    <a:lnR>
                      <a:noFill/>
                    </a:lnR>
                    <a:lnT>
                      <a:noFill/>
                    </a:lnT>
                    <a:lnB>
                      <a:noFill/>
                    </a:lnB>
                    <a:noFill/>
                  </a:tcPr>
                </a:tc>
                <a:extLst>
                  <a:ext uri="{0D108BD9-81ED-4DB2-BD59-A6C34878D82A}">
                    <a16:rowId xmlns:a16="http://schemas.microsoft.com/office/drawing/2014/main" val="2809613186"/>
                  </a:ext>
                </a:extLst>
              </a:tr>
            </a:tbl>
          </a:graphicData>
        </a:graphic>
      </p:graphicFrame>
    </p:spTree>
    <p:extLst>
      <p:ext uri="{BB962C8B-B14F-4D97-AF65-F5344CB8AC3E}">
        <p14:creationId xmlns:p14="http://schemas.microsoft.com/office/powerpoint/2010/main" val="30257416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890FC9-E742-453C-199B-431C4577E0DC}"/>
              </a:ext>
            </a:extLst>
          </p:cNvPr>
          <p:cNvSpPr>
            <a:spLocks noGrp="1"/>
          </p:cNvSpPr>
          <p:nvPr>
            <p:ph type="title"/>
          </p:nvPr>
        </p:nvSpPr>
        <p:spPr>
          <a:xfrm>
            <a:off x="761803" y="350196"/>
            <a:ext cx="4646904" cy="1624520"/>
          </a:xfrm>
        </p:spPr>
        <p:txBody>
          <a:bodyPr anchor="ctr">
            <a:normAutofit/>
          </a:bodyPr>
          <a:lstStyle/>
          <a:p>
            <a:r>
              <a:rPr lang="en-CA" sz="4000" b="1"/>
              <a:t>Problem Statement</a:t>
            </a:r>
            <a:endParaRPr lang="en-CA" sz="4000"/>
          </a:p>
        </p:txBody>
      </p:sp>
      <p:sp>
        <p:nvSpPr>
          <p:cNvPr id="3" name="Content Placeholder 2">
            <a:extLst>
              <a:ext uri="{FF2B5EF4-FFF2-40B4-BE49-F238E27FC236}">
                <a16:creationId xmlns:a16="http://schemas.microsoft.com/office/drawing/2014/main" id="{51ED2482-449D-137A-FBB8-76C23DEDE566}"/>
              </a:ext>
            </a:extLst>
          </p:cNvPr>
          <p:cNvSpPr>
            <a:spLocks noGrp="1"/>
          </p:cNvSpPr>
          <p:nvPr>
            <p:ph idx="1"/>
          </p:nvPr>
        </p:nvSpPr>
        <p:spPr>
          <a:xfrm>
            <a:off x="761802" y="2743200"/>
            <a:ext cx="4646905" cy="3613149"/>
          </a:xfrm>
        </p:spPr>
        <p:txBody>
          <a:bodyPr anchor="ctr">
            <a:normAutofit/>
          </a:bodyPr>
          <a:lstStyle/>
          <a:p>
            <a:pPr marL="0" indent="0">
              <a:buNone/>
            </a:pPr>
            <a:r>
              <a:rPr lang="en-US" sz="1700"/>
              <a:t>Social media is an ever-growing source of real-time public opinion. Platforms like Twitter are used by individuals to express their views on various topics ranging from politics to products. With millions of tweets posted daily, manually analyzing sentiments becomes impractical. Our project addresses this problem by building an automated system that classifies tweets into positive or negative sentiments using machine learning. The final product is a deployable web API that can be integrated into larger systems for real-time sentiment analysis.</a:t>
            </a:r>
          </a:p>
          <a:p>
            <a:endParaRPr lang="en-CA" sz="1700"/>
          </a:p>
        </p:txBody>
      </p:sp>
      <p:pic>
        <p:nvPicPr>
          <p:cNvPr id="5" name="Picture 4" descr="3D polygons with dots and lines in a white background">
            <a:extLst>
              <a:ext uri="{FF2B5EF4-FFF2-40B4-BE49-F238E27FC236}">
                <a16:creationId xmlns:a16="http://schemas.microsoft.com/office/drawing/2014/main" id="{3B199780-1512-5E6D-1D82-4ECB1B5C97BD}"/>
              </a:ext>
            </a:extLst>
          </p:cNvPr>
          <p:cNvPicPr>
            <a:picLocks noChangeAspect="1"/>
          </p:cNvPicPr>
          <p:nvPr/>
        </p:nvPicPr>
        <p:blipFill>
          <a:blip r:embed="rId2"/>
          <a:srcRect r="45049" b="-1"/>
          <a:stretch/>
        </p:blipFill>
        <p:spPr>
          <a:xfrm>
            <a:off x="6096000" y="1"/>
            <a:ext cx="6102825" cy="6858000"/>
          </a:xfrm>
          <a:prstGeom prst="rect">
            <a:avLst/>
          </a:prstGeom>
        </p:spPr>
      </p:pic>
    </p:spTree>
    <p:extLst>
      <p:ext uri="{BB962C8B-B14F-4D97-AF65-F5344CB8AC3E}">
        <p14:creationId xmlns:p14="http://schemas.microsoft.com/office/powerpoint/2010/main" val="16394977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EDC5922-74E7-4BE3-54E0-05549998E8EA}"/>
              </a:ext>
            </a:extLst>
          </p:cNvPr>
          <p:cNvSpPr>
            <a:spLocks noGrp="1"/>
          </p:cNvSpPr>
          <p:nvPr>
            <p:ph type="title"/>
          </p:nvPr>
        </p:nvSpPr>
        <p:spPr>
          <a:xfrm>
            <a:off x="586478" y="1683756"/>
            <a:ext cx="3115265" cy="2396359"/>
          </a:xfrm>
        </p:spPr>
        <p:txBody>
          <a:bodyPr anchor="b">
            <a:normAutofit/>
          </a:bodyPr>
          <a:lstStyle/>
          <a:p>
            <a:pPr algn="r"/>
            <a:r>
              <a:rPr lang="en-CA" sz="4000" b="1">
                <a:solidFill>
                  <a:srgbClr val="FFFFFF"/>
                </a:solidFill>
              </a:rPr>
              <a:t>Project Objectives</a:t>
            </a:r>
            <a:endParaRPr lang="en-CA" sz="4000">
              <a:solidFill>
                <a:srgbClr val="FFFFFF"/>
              </a:solidFill>
            </a:endParaRPr>
          </a:p>
        </p:txBody>
      </p:sp>
      <p:graphicFrame>
        <p:nvGraphicFramePr>
          <p:cNvPr id="5" name="Content Placeholder 2">
            <a:extLst>
              <a:ext uri="{FF2B5EF4-FFF2-40B4-BE49-F238E27FC236}">
                <a16:creationId xmlns:a16="http://schemas.microsoft.com/office/drawing/2014/main" id="{839CD392-940B-BD35-004F-04A631067EBE}"/>
              </a:ext>
            </a:extLst>
          </p:cNvPr>
          <p:cNvGraphicFramePr>
            <a:graphicFrameLocks noGrp="1"/>
          </p:cNvGraphicFramePr>
          <p:nvPr>
            <p:ph idx="1"/>
            <p:extLst>
              <p:ext uri="{D42A27DB-BD31-4B8C-83A1-F6EECF244321}">
                <p14:modId xmlns:p14="http://schemas.microsoft.com/office/powerpoint/2010/main" val="678400031"/>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321359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FCD5A9-77AA-0539-E828-AD86F575B176}"/>
              </a:ext>
            </a:extLst>
          </p:cNvPr>
          <p:cNvSpPr>
            <a:spLocks noGrp="1"/>
          </p:cNvSpPr>
          <p:nvPr>
            <p:ph type="title"/>
          </p:nvPr>
        </p:nvSpPr>
        <p:spPr>
          <a:xfrm>
            <a:off x="466722" y="586855"/>
            <a:ext cx="3201366" cy="3387497"/>
          </a:xfrm>
        </p:spPr>
        <p:txBody>
          <a:bodyPr anchor="b">
            <a:normAutofit/>
          </a:bodyPr>
          <a:lstStyle/>
          <a:p>
            <a:pPr algn="r"/>
            <a:r>
              <a:rPr lang="en-CA" sz="4000" b="1">
                <a:solidFill>
                  <a:srgbClr val="FFFFFF"/>
                </a:solidFill>
              </a:rPr>
              <a:t>Dataset Overview</a:t>
            </a:r>
            <a:endParaRPr lang="en-CA" sz="4000">
              <a:solidFill>
                <a:srgbClr val="FFFFFF"/>
              </a:solidFill>
            </a:endParaRPr>
          </a:p>
        </p:txBody>
      </p:sp>
      <p:sp>
        <p:nvSpPr>
          <p:cNvPr id="3" name="Content Placeholder 2">
            <a:extLst>
              <a:ext uri="{FF2B5EF4-FFF2-40B4-BE49-F238E27FC236}">
                <a16:creationId xmlns:a16="http://schemas.microsoft.com/office/drawing/2014/main" id="{B2ABEC63-7E1E-DBAC-F9AA-843B61637EDA}"/>
              </a:ext>
            </a:extLst>
          </p:cNvPr>
          <p:cNvSpPr>
            <a:spLocks noGrp="1"/>
          </p:cNvSpPr>
          <p:nvPr>
            <p:ph idx="1"/>
          </p:nvPr>
        </p:nvSpPr>
        <p:spPr>
          <a:xfrm>
            <a:off x="4810259" y="649480"/>
            <a:ext cx="6555347" cy="5546047"/>
          </a:xfrm>
        </p:spPr>
        <p:txBody>
          <a:bodyPr anchor="ctr">
            <a:normAutofit/>
          </a:bodyPr>
          <a:lstStyle/>
          <a:p>
            <a:pPr marL="0" indent="0">
              <a:buNone/>
            </a:pPr>
            <a:r>
              <a:rPr lang="en-US" sz="2000"/>
              <a:t>We used the Sentiment140 dataset available on Kaggle, which contains 1.6 million tweets annotated for sentiment. The dataset includes tweet content, sentiment labels, and user metadata. For our purposes, we focused on the text and sentiment columns. Tweets originally labeled as 0 (negative) and 4 (positive) were relabeled to 0 and 1 respectively for binary classification. The large volume of data provided a robust base for model training and evaluation.</a:t>
            </a:r>
          </a:p>
          <a:p>
            <a:endParaRPr lang="en-CA" sz="2000"/>
          </a:p>
        </p:txBody>
      </p:sp>
    </p:spTree>
    <p:extLst>
      <p:ext uri="{BB962C8B-B14F-4D97-AF65-F5344CB8AC3E}">
        <p14:creationId xmlns:p14="http://schemas.microsoft.com/office/powerpoint/2010/main" val="26929808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Rectangle 24">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7C21FE8-B22C-B203-5C42-450AE00F29D5}"/>
              </a:ext>
            </a:extLst>
          </p:cNvPr>
          <p:cNvSpPr>
            <a:spLocks noGrp="1"/>
          </p:cNvSpPr>
          <p:nvPr>
            <p:ph type="title"/>
          </p:nvPr>
        </p:nvSpPr>
        <p:spPr>
          <a:xfrm>
            <a:off x="586478" y="1683756"/>
            <a:ext cx="3115265" cy="2396359"/>
          </a:xfrm>
        </p:spPr>
        <p:txBody>
          <a:bodyPr anchor="b">
            <a:normAutofit/>
          </a:bodyPr>
          <a:lstStyle/>
          <a:p>
            <a:pPr algn="r"/>
            <a:r>
              <a:rPr lang="en-CA" sz="4000" b="1">
                <a:solidFill>
                  <a:srgbClr val="FFFFFF"/>
                </a:solidFill>
              </a:rPr>
              <a:t>Data Cleaning Process</a:t>
            </a:r>
            <a:endParaRPr lang="en-CA" sz="4000">
              <a:solidFill>
                <a:srgbClr val="FFFFFF"/>
              </a:solidFill>
            </a:endParaRPr>
          </a:p>
        </p:txBody>
      </p:sp>
      <p:graphicFrame>
        <p:nvGraphicFramePr>
          <p:cNvPr id="5" name="Content Placeholder 2">
            <a:extLst>
              <a:ext uri="{FF2B5EF4-FFF2-40B4-BE49-F238E27FC236}">
                <a16:creationId xmlns:a16="http://schemas.microsoft.com/office/drawing/2014/main" id="{10553537-C6F6-CB49-14D5-687C24A45A0F}"/>
              </a:ext>
            </a:extLst>
          </p:cNvPr>
          <p:cNvGraphicFramePr>
            <a:graphicFrameLocks noGrp="1"/>
          </p:cNvGraphicFramePr>
          <p:nvPr>
            <p:ph idx="1"/>
            <p:extLst>
              <p:ext uri="{D42A27DB-BD31-4B8C-83A1-F6EECF244321}">
                <p14:modId xmlns:p14="http://schemas.microsoft.com/office/powerpoint/2010/main" val="1623114600"/>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711347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950AC5C-BFAA-1687-666E-6D51CD675A01}"/>
              </a:ext>
            </a:extLst>
          </p:cNvPr>
          <p:cNvSpPr>
            <a:spLocks noGrp="1"/>
          </p:cNvSpPr>
          <p:nvPr>
            <p:ph type="title"/>
          </p:nvPr>
        </p:nvSpPr>
        <p:spPr>
          <a:xfrm>
            <a:off x="638881" y="457200"/>
            <a:ext cx="10909640" cy="1368614"/>
          </a:xfrm>
        </p:spPr>
        <p:txBody>
          <a:bodyPr vert="horz" lIns="91440" tIns="45720" rIns="91440" bIns="45720" rtlCol="0" anchor="ctr">
            <a:normAutofit/>
          </a:bodyPr>
          <a:lstStyle/>
          <a:p>
            <a:pPr algn="ctr"/>
            <a:r>
              <a:rPr lang="en-US" sz="6600"/>
              <a:t>Cleaning the Dataset</a:t>
            </a:r>
          </a:p>
        </p:txBody>
      </p:sp>
      <p:sp>
        <p:nvSpPr>
          <p:cNvPr id="38"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1850683"/>
            <a:ext cx="3291840" cy="18288"/>
          </a:xfrm>
          <a:custGeom>
            <a:avLst/>
            <a:gdLst>
              <a:gd name="connsiteX0" fmla="*/ 0 w 3291840"/>
              <a:gd name="connsiteY0" fmla="*/ 0 h 18288"/>
              <a:gd name="connsiteX1" fmla="*/ 658368 w 3291840"/>
              <a:gd name="connsiteY1" fmla="*/ 0 h 18288"/>
              <a:gd name="connsiteX2" fmla="*/ 1283818 w 3291840"/>
              <a:gd name="connsiteY2" fmla="*/ 0 h 18288"/>
              <a:gd name="connsiteX3" fmla="*/ 1909267 w 3291840"/>
              <a:gd name="connsiteY3" fmla="*/ 0 h 18288"/>
              <a:gd name="connsiteX4" fmla="*/ 2633472 w 3291840"/>
              <a:gd name="connsiteY4" fmla="*/ 0 h 18288"/>
              <a:gd name="connsiteX5" fmla="*/ 3291840 w 3291840"/>
              <a:gd name="connsiteY5" fmla="*/ 0 h 18288"/>
              <a:gd name="connsiteX6" fmla="*/ 3291840 w 3291840"/>
              <a:gd name="connsiteY6" fmla="*/ 18288 h 18288"/>
              <a:gd name="connsiteX7" fmla="*/ 2633472 w 3291840"/>
              <a:gd name="connsiteY7" fmla="*/ 18288 h 18288"/>
              <a:gd name="connsiteX8" fmla="*/ 2073859 w 3291840"/>
              <a:gd name="connsiteY8" fmla="*/ 18288 h 18288"/>
              <a:gd name="connsiteX9" fmla="*/ 1448410 w 3291840"/>
              <a:gd name="connsiteY9" fmla="*/ 18288 h 18288"/>
              <a:gd name="connsiteX10" fmla="*/ 822960 w 3291840"/>
              <a:gd name="connsiteY10" fmla="*/ 18288 h 18288"/>
              <a:gd name="connsiteX11" fmla="*/ 0 w 3291840"/>
              <a:gd name="connsiteY11" fmla="*/ 18288 h 18288"/>
              <a:gd name="connsiteX12" fmla="*/ 0 w 329184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A2277851-1B59-31E1-E4A4-0F8DC9674F88}"/>
              </a:ext>
            </a:extLst>
          </p:cNvPr>
          <p:cNvPicPr>
            <a:picLocks noGrp="1" noChangeAspect="1"/>
          </p:cNvPicPr>
          <p:nvPr>
            <p:ph idx="1"/>
          </p:nvPr>
        </p:nvPicPr>
        <p:blipFill>
          <a:blip r:embed="rId2"/>
          <a:stretch>
            <a:fillRect/>
          </a:stretch>
        </p:blipFill>
        <p:spPr>
          <a:xfrm>
            <a:off x="342858" y="2642616"/>
            <a:ext cx="5568779" cy="3605784"/>
          </a:xfrm>
          <a:prstGeom prst="rect">
            <a:avLst/>
          </a:prstGeom>
        </p:spPr>
      </p:pic>
      <p:pic>
        <p:nvPicPr>
          <p:cNvPr id="7" name="Picture 6">
            <a:extLst>
              <a:ext uri="{FF2B5EF4-FFF2-40B4-BE49-F238E27FC236}">
                <a16:creationId xmlns:a16="http://schemas.microsoft.com/office/drawing/2014/main" id="{85128B88-4456-25B5-EF97-6536DEFA9C9F}"/>
              </a:ext>
            </a:extLst>
          </p:cNvPr>
          <p:cNvPicPr>
            <a:picLocks noChangeAspect="1"/>
          </p:cNvPicPr>
          <p:nvPr/>
        </p:nvPicPr>
        <p:blipFill>
          <a:blip r:embed="rId3"/>
          <a:stretch>
            <a:fillRect/>
          </a:stretch>
        </p:blipFill>
        <p:spPr>
          <a:xfrm>
            <a:off x="6254496" y="3069976"/>
            <a:ext cx="5614416" cy="2751064"/>
          </a:xfrm>
          <a:prstGeom prst="rect">
            <a:avLst/>
          </a:prstGeom>
        </p:spPr>
      </p:pic>
    </p:spTree>
    <p:extLst>
      <p:ext uri="{BB962C8B-B14F-4D97-AF65-F5344CB8AC3E}">
        <p14:creationId xmlns:p14="http://schemas.microsoft.com/office/powerpoint/2010/main" val="4954201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F248B47-7627-5708-73FF-73BAA091D517}"/>
              </a:ext>
            </a:extLst>
          </p:cNvPr>
          <p:cNvSpPr>
            <a:spLocks noGrp="1"/>
          </p:cNvSpPr>
          <p:nvPr>
            <p:ph type="title"/>
          </p:nvPr>
        </p:nvSpPr>
        <p:spPr>
          <a:xfrm>
            <a:off x="4654296" y="329184"/>
            <a:ext cx="6894576" cy="1783080"/>
          </a:xfrm>
        </p:spPr>
        <p:txBody>
          <a:bodyPr anchor="b">
            <a:normAutofit/>
          </a:bodyPr>
          <a:lstStyle/>
          <a:p>
            <a:r>
              <a:rPr lang="en-CA" sz="5400" b="1"/>
              <a:t>EDA &amp; Visualizations</a:t>
            </a:r>
            <a:endParaRPr lang="en-CA" sz="5400"/>
          </a:p>
        </p:txBody>
      </p:sp>
      <p:pic>
        <p:nvPicPr>
          <p:cNvPr id="19" name="Picture 18" descr="Geometric white clouds on a blue sky">
            <a:extLst>
              <a:ext uri="{FF2B5EF4-FFF2-40B4-BE49-F238E27FC236}">
                <a16:creationId xmlns:a16="http://schemas.microsoft.com/office/drawing/2014/main" id="{92A661A8-C5E1-FB6C-99F0-C8B8A6F93E96}"/>
              </a:ext>
            </a:extLst>
          </p:cNvPr>
          <p:cNvPicPr>
            <a:picLocks noChangeAspect="1"/>
          </p:cNvPicPr>
          <p:nvPr/>
        </p:nvPicPr>
        <p:blipFill>
          <a:blip r:embed="rId2"/>
          <a:srcRect l="13444" r="42237"/>
          <a:stretch/>
        </p:blipFill>
        <p:spPr>
          <a:xfrm>
            <a:off x="20" y="1"/>
            <a:ext cx="4052522" cy="6858000"/>
          </a:xfrm>
          <a:custGeom>
            <a:avLst/>
            <a:gdLst/>
            <a:ahLst/>
            <a:cxnLst/>
            <a:rect l="l" t="t" r="r" b="b"/>
            <a:pathLst>
              <a:path w="4052542" h="6858000">
                <a:moveTo>
                  <a:pt x="0" y="0"/>
                </a:moveTo>
                <a:lnTo>
                  <a:pt x="4020923" y="0"/>
                </a:lnTo>
                <a:lnTo>
                  <a:pt x="4022656" y="14697"/>
                </a:lnTo>
                <a:cubicBezTo>
                  <a:pt x="4037606" y="98462"/>
                  <a:pt x="4035072" y="183369"/>
                  <a:pt x="4039126" y="267642"/>
                </a:cubicBezTo>
                <a:cubicBezTo>
                  <a:pt x="4043941" y="370699"/>
                  <a:pt x="4037860" y="474136"/>
                  <a:pt x="4035579" y="577446"/>
                </a:cubicBezTo>
                <a:cubicBezTo>
                  <a:pt x="4033805" y="665399"/>
                  <a:pt x="4025063" y="753226"/>
                  <a:pt x="4027724" y="841306"/>
                </a:cubicBezTo>
                <a:cubicBezTo>
                  <a:pt x="4027914" y="844352"/>
                  <a:pt x="4027914" y="847398"/>
                  <a:pt x="4027724" y="850444"/>
                </a:cubicBezTo>
                <a:cubicBezTo>
                  <a:pt x="4019615" y="947281"/>
                  <a:pt x="4019615" y="1044626"/>
                  <a:pt x="4027724" y="1141464"/>
                </a:cubicBezTo>
                <a:cubicBezTo>
                  <a:pt x="4030296" y="1181772"/>
                  <a:pt x="4029574" y="1222221"/>
                  <a:pt x="4025570" y="1262415"/>
                </a:cubicBezTo>
                <a:cubicBezTo>
                  <a:pt x="4021769" y="1313563"/>
                  <a:pt x="4009606" y="1365472"/>
                  <a:pt x="4018348" y="1416238"/>
                </a:cubicBezTo>
                <a:cubicBezTo>
                  <a:pt x="4024037" y="1458058"/>
                  <a:pt x="4027166" y="1500194"/>
                  <a:pt x="4027724" y="1542394"/>
                </a:cubicBezTo>
                <a:cubicBezTo>
                  <a:pt x="4032158" y="1636820"/>
                  <a:pt x="4027977" y="1731753"/>
                  <a:pt x="4026330" y="1826433"/>
                </a:cubicBezTo>
                <a:cubicBezTo>
                  <a:pt x="4024556" y="1936724"/>
                  <a:pt x="4027344" y="2047015"/>
                  <a:pt x="4018475" y="2157432"/>
                </a:cubicBezTo>
                <a:cubicBezTo>
                  <a:pt x="4013597" y="2246629"/>
                  <a:pt x="4013597" y="2336029"/>
                  <a:pt x="4018475" y="2425226"/>
                </a:cubicBezTo>
                <a:cubicBezTo>
                  <a:pt x="4020882" y="2506961"/>
                  <a:pt x="4033172" y="2587934"/>
                  <a:pt x="4031145" y="2670557"/>
                </a:cubicBezTo>
                <a:cubicBezTo>
                  <a:pt x="4028737" y="2766886"/>
                  <a:pt x="4017335" y="2862962"/>
                  <a:pt x="4020882" y="2959546"/>
                </a:cubicBezTo>
                <a:cubicBezTo>
                  <a:pt x="4022529" y="3005617"/>
                  <a:pt x="4022656" y="3051688"/>
                  <a:pt x="4023543" y="3097758"/>
                </a:cubicBezTo>
                <a:cubicBezTo>
                  <a:pt x="4024683" y="3153221"/>
                  <a:pt x="4034692" y="3208556"/>
                  <a:pt x="4029117" y="3263892"/>
                </a:cubicBezTo>
                <a:cubicBezTo>
                  <a:pt x="4019869" y="3356161"/>
                  <a:pt x="3995923" y="3446906"/>
                  <a:pt x="4010873" y="3541459"/>
                </a:cubicBezTo>
                <a:cubicBezTo>
                  <a:pt x="4019108" y="3593495"/>
                  <a:pt x="4028357" y="3645658"/>
                  <a:pt x="4033172" y="3698201"/>
                </a:cubicBezTo>
                <a:cubicBezTo>
                  <a:pt x="4037353" y="3745160"/>
                  <a:pt x="4047868" y="3792881"/>
                  <a:pt x="4039886" y="3839586"/>
                </a:cubicBezTo>
                <a:cubicBezTo>
                  <a:pt x="4033045" y="3879565"/>
                  <a:pt x="4036592" y="3919544"/>
                  <a:pt x="4031271" y="3959523"/>
                </a:cubicBezTo>
                <a:cubicBezTo>
                  <a:pt x="4024303" y="4011939"/>
                  <a:pt x="4020629" y="4065244"/>
                  <a:pt x="4015308" y="4118042"/>
                </a:cubicBezTo>
                <a:cubicBezTo>
                  <a:pt x="4010620" y="4165889"/>
                  <a:pt x="4006946" y="4213610"/>
                  <a:pt x="4019615" y="4258539"/>
                </a:cubicBezTo>
                <a:cubicBezTo>
                  <a:pt x="4050656" y="4371622"/>
                  <a:pt x="4033679" y="4484070"/>
                  <a:pt x="4022023" y="4596391"/>
                </a:cubicBezTo>
                <a:cubicBezTo>
                  <a:pt x="4016321" y="4650965"/>
                  <a:pt x="4007959" y="4708712"/>
                  <a:pt x="4020629" y="4758718"/>
                </a:cubicBezTo>
                <a:cubicBezTo>
                  <a:pt x="4043941" y="4847432"/>
                  <a:pt x="4025697" y="4931705"/>
                  <a:pt x="4015561" y="5016866"/>
                </a:cubicBezTo>
                <a:cubicBezTo>
                  <a:pt x="4003335" y="5100174"/>
                  <a:pt x="4005096" y="5184929"/>
                  <a:pt x="4020756" y="5267654"/>
                </a:cubicBezTo>
                <a:cubicBezTo>
                  <a:pt x="4033172" y="5326035"/>
                  <a:pt x="4033172" y="5385432"/>
                  <a:pt x="4034692" y="5444194"/>
                </a:cubicBezTo>
                <a:cubicBezTo>
                  <a:pt x="4035579" y="5481001"/>
                  <a:pt x="4022023" y="5518441"/>
                  <a:pt x="4013027" y="5555120"/>
                </a:cubicBezTo>
                <a:cubicBezTo>
                  <a:pt x="3996937" y="5621371"/>
                  <a:pt x="3991109" y="5688636"/>
                  <a:pt x="4013027" y="5753237"/>
                </a:cubicBezTo>
                <a:cubicBezTo>
                  <a:pt x="4043561" y="5842713"/>
                  <a:pt x="4061045" y="5932189"/>
                  <a:pt x="4048375" y="6026870"/>
                </a:cubicBezTo>
                <a:cubicBezTo>
                  <a:pt x="4041027" y="6085251"/>
                  <a:pt x="4039380" y="6144902"/>
                  <a:pt x="4028357" y="6202522"/>
                </a:cubicBezTo>
                <a:cubicBezTo>
                  <a:pt x="4010240" y="6298091"/>
                  <a:pt x="4016701" y="6393024"/>
                  <a:pt x="4031145" y="6487196"/>
                </a:cubicBezTo>
                <a:cubicBezTo>
                  <a:pt x="4041293" y="6565885"/>
                  <a:pt x="4042395" y="6645474"/>
                  <a:pt x="4034439" y="6724403"/>
                </a:cubicBezTo>
                <a:lnTo>
                  <a:pt x="4025206" y="6858000"/>
                </a:lnTo>
                <a:lnTo>
                  <a:pt x="0" y="6858000"/>
                </a:lnTo>
                <a:close/>
              </a:path>
            </a:pathLst>
          </a:custGeom>
        </p:spPr>
      </p:pic>
      <p:sp>
        <p:nvSpPr>
          <p:cNvPr id="11" name="sketchy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296" y="2395728"/>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AE7836A-51C4-6C2D-8EFC-14CA614E2949}"/>
              </a:ext>
            </a:extLst>
          </p:cNvPr>
          <p:cNvSpPr>
            <a:spLocks noGrp="1"/>
          </p:cNvSpPr>
          <p:nvPr>
            <p:ph idx="1"/>
          </p:nvPr>
        </p:nvSpPr>
        <p:spPr>
          <a:xfrm>
            <a:off x="4654296" y="2706624"/>
            <a:ext cx="6894576" cy="3483864"/>
          </a:xfrm>
        </p:spPr>
        <p:txBody>
          <a:bodyPr>
            <a:normAutofit/>
          </a:bodyPr>
          <a:lstStyle/>
          <a:p>
            <a:pPr>
              <a:buNone/>
            </a:pPr>
            <a:r>
              <a:rPr lang="en-US" sz="2200"/>
              <a:t>Exploratory Data Analysis helped us understand the distribution and frequency of terms across sentiments. Key insights included:</a:t>
            </a:r>
          </a:p>
          <a:p>
            <a:pPr>
              <a:buFont typeface="Arial" panose="020B0604020202020204" pitchFamily="34" charset="0"/>
              <a:buChar char="•"/>
            </a:pPr>
            <a:r>
              <a:rPr lang="en-US" sz="2200"/>
              <a:t>An almost balanced distribution between positive and negative tweets.</a:t>
            </a:r>
          </a:p>
          <a:p>
            <a:pPr>
              <a:buFont typeface="Arial" panose="020B0604020202020204" pitchFamily="34" charset="0"/>
              <a:buChar char="•"/>
            </a:pPr>
            <a:r>
              <a:rPr lang="en-US" sz="2200"/>
              <a:t>Word clouds highlighting distinct vocabulary in positive vs. negative tweets.</a:t>
            </a:r>
          </a:p>
          <a:p>
            <a:pPr>
              <a:buFont typeface="Arial" panose="020B0604020202020204" pitchFamily="34" charset="0"/>
              <a:buChar char="•"/>
            </a:pPr>
            <a:r>
              <a:rPr lang="en-US" sz="2200"/>
              <a:t>Top 20 most common words featured neutral terms, indicating a need for contextual analysis.</a:t>
            </a:r>
          </a:p>
          <a:p>
            <a:endParaRPr lang="en-CA" sz="2200"/>
          </a:p>
        </p:txBody>
      </p:sp>
    </p:spTree>
    <p:extLst>
      <p:ext uri="{BB962C8B-B14F-4D97-AF65-F5344CB8AC3E}">
        <p14:creationId xmlns:p14="http://schemas.microsoft.com/office/powerpoint/2010/main" val="25138070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 name="Rectangle 39">
            <a:extLst>
              <a:ext uri="{FF2B5EF4-FFF2-40B4-BE49-F238E27FC236}">
                <a16:creationId xmlns:a16="http://schemas.microsoft.com/office/drawing/2014/main" id="{AA3CC463-F933-4AC4-86E1-5AC14B0C31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6025D2DB-A12A-44DB-B00E-F4D622329E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1331" y="480060"/>
            <a:ext cx="4180332" cy="2788074"/>
          </a:xfrm>
          <a:prstGeom prst="rect">
            <a:avLst/>
          </a:prstGeom>
          <a:solidFill>
            <a:srgbClr val="FFFFFF"/>
          </a:solidFill>
          <a:ln w="19050">
            <a:solidFill>
              <a:srgbClr val="2987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83DF6C19-AF0C-AE4B-06D1-CAD4C997AAF4}"/>
              </a:ext>
            </a:extLst>
          </p:cNvPr>
          <p:cNvPicPr>
            <a:picLocks noChangeAspect="1"/>
          </p:cNvPicPr>
          <p:nvPr/>
        </p:nvPicPr>
        <p:blipFill>
          <a:blip r:embed="rId2"/>
          <a:stretch>
            <a:fillRect/>
          </a:stretch>
        </p:blipFill>
        <p:spPr>
          <a:xfrm>
            <a:off x="554611" y="487090"/>
            <a:ext cx="3993771" cy="2675826"/>
          </a:xfrm>
          <a:prstGeom prst="rect">
            <a:avLst/>
          </a:prstGeom>
        </p:spPr>
      </p:pic>
      <p:sp>
        <p:nvSpPr>
          <p:cNvPr id="42" name="Rectangle 41">
            <a:extLst>
              <a:ext uri="{FF2B5EF4-FFF2-40B4-BE49-F238E27FC236}">
                <a16:creationId xmlns:a16="http://schemas.microsoft.com/office/drawing/2014/main" id="{CE7E7877-F64E-4EEA-B778-138031EFF8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1331" y="3603670"/>
            <a:ext cx="4180332" cy="2788074"/>
          </a:xfrm>
          <a:prstGeom prst="rect">
            <a:avLst/>
          </a:prstGeom>
          <a:solidFill>
            <a:srgbClr val="FFFFFF"/>
          </a:solidFill>
          <a:ln w="19050">
            <a:solidFill>
              <a:srgbClr val="2987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0532E2F2-D069-A2A3-BA97-92ABB7E49996}"/>
              </a:ext>
            </a:extLst>
          </p:cNvPr>
          <p:cNvPicPr>
            <a:picLocks noChangeAspect="1"/>
          </p:cNvPicPr>
          <p:nvPr/>
        </p:nvPicPr>
        <p:blipFill>
          <a:blip r:embed="rId3"/>
          <a:stretch>
            <a:fillRect/>
          </a:stretch>
        </p:blipFill>
        <p:spPr>
          <a:xfrm>
            <a:off x="491884" y="3918858"/>
            <a:ext cx="4049077" cy="2166256"/>
          </a:xfrm>
          <a:prstGeom prst="rect">
            <a:avLst/>
          </a:prstGeom>
        </p:spPr>
      </p:pic>
      <p:sp>
        <p:nvSpPr>
          <p:cNvPr id="43" name="Rectangle 42">
            <a:extLst>
              <a:ext uri="{FF2B5EF4-FFF2-40B4-BE49-F238E27FC236}">
                <a16:creationId xmlns:a16="http://schemas.microsoft.com/office/drawing/2014/main" id="{7DD6C4F3-70FD-4F13-919C-702EE48864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0596" y="487090"/>
            <a:ext cx="6741849" cy="5897880"/>
          </a:xfrm>
          <a:prstGeom prst="rect">
            <a:avLst/>
          </a:prstGeom>
          <a:solidFill>
            <a:srgbClr val="FFFFFF"/>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ED9AF91E-2030-3F68-D288-BD4ED65928B6}"/>
              </a:ext>
            </a:extLst>
          </p:cNvPr>
          <p:cNvPicPr>
            <a:picLocks noChangeAspect="1"/>
          </p:cNvPicPr>
          <p:nvPr/>
        </p:nvPicPr>
        <p:blipFill>
          <a:blip r:embed="rId4"/>
          <a:stretch>
            <a:fillRect/>
          </a:stretch>
        </p:blipFill>
        <p:spPr>
          <a:xfrm>
            <a:off x="5144764" y="1168463"/>
            <a:ext cx="6410084" cy="4535133"/>
          </a:xfrm>
          <a:prstGeom prst="rect">
            <a:avLst/>
          </a:prstGeom>
        </p:spPr>
      </p:pic>
    </p:spTree>
    <p:extLst>
      <p:ext uri="{BB962C8B-B14F-4D97-AF65-F5344CB8AC3E}">
        <p14:creationId xmlns:p14="http://schemas.microsoft.com/office/powerpoint/2010/main" val="20457392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F45E54E-EF1C-1978-C356-8FF192394489}"/>
              </a:ext>
            </a:extLst>
          </p:cNvPr>
          <p:cNvSpPr>
            <a:spLocks noGrp="1"/>
          </p:cNvSpPr>
          <p:nvPr>
            <p:ph type="title"/>
          </p:nvPr>
        </p:nvSpPr>
        <p:spPr>
          <a:xfrm>
            <a:off x="4654296" y="329184"/>
            <a:ext cx="6894576" cy="1783080"/>
          </a:xfrm>
        </p:spPr>
        <p:txBody>
          <a:bodyPr anchor="b">
            <a:normAutofit/>
          </a:bodyPr>
          <a:lstStyle/>
          <a:p>
            <a:r>
              <a:rPr lang="en-CA" sz="5400" b="1"/>
              <a:t>Model Training &amp; Evaluation</a:t>
            </a:r>
            <a:endParaRPr lang="en-CA" sz="5400"/>
          </a:p>
        </p:txBody>
      </p:sp>
      <p:pic>
        <p:nvPicPr>
          <p:cNvPr id="5" name="Picture 4" descr="White stairs with a blue arrow drawn in the middle pointing upwards">
            <a:extLst>
              <a:ext uri="{FF2B5EF4-FFF2-40B4-BE49-F238E27FC236}">
                <a16:creationId xmlns:a16="http://schemas.microsoft.com/office/drawing/2014/main" id="{093E48D3-1A76-8964-1821-088DFB96E123}"/>
              </a:ext>
            </a:extLst>
          </p:cNvPr>
          <p:cNvPicPr>
            <a:picLocks noChangeAspect="1"/>
          </p:cNvPicPr>
          <p:nvPr/>
        </p:nvPicPr>
        <p:blipFill>
          <a:blip r:embed="rId2"/>
          <a:srcRect l="11820" r="29088"/>
          <a:stretch/>
        </p:blipFill>
        <p:spPr>
          <a:xfrm>
            <a:off x="20" y="1"/>
            <a:ext cx="4052522" cy="6858000"/>
          </a:xfrm>
          <a:custGeom>
            <a:avLst/>
            <a:gdLst/>
            <a:ahLst/>
            <a:cxnLst/>
            <a:rect l="l" t="t" r="r" b="b"/>
            <a:pathLst>
              <a:path w="4052542" h="6858000">
                <a:moveTo>
                  <a:pt x="0" y="0"/>
                </a:moveTo>
                <a:lnTo>
                  <a:pt x="4020923" y="0"/>
                </a:lnTo>
                <a:lnTo>
                  <a:pt x="4022656" y="14697"/>
                </a:lnTo>
                <a:cubicBezTo>
                  <a:pt x="4037606" y="98462"/>
                  <a:pt x="4035072" y="183369"/>
                  <a:pt x="4039126" y="267642"/>
                </a:cubicBezTo>
                <a:cubicBezTo>
                  <a:pt x="4043941" y="370699"/>
                  <a:pt x="4037860" y="474136"/>
                  <a:pt x="4035579" y="577446"/>
                </a:cubicBezTo>
                <a:cubicBezTo>
                  <a:pt x="4033805" y="665399"/>
                  <a:pt x="4025063" y="753226"/>
                  <a:pt x="4027724" y="841306"/>
                </a:cubicBezTo>
                <a:cubicBezTo>
                  <a:pt x="4027914" y="844352"/>
                  <a:pt x="4027914" y="847398"/>
                  <a:pt x="4027724" y="850444"/>
                </a:cubicBezTo>
                <a:cubicBezTo>
                  <a:pt x="4019615" y="947281"/>
                  <a:pt x="4019615" y="1044626"/>
                  <a:pt x="4027724" y="1141464"/>
                </a:cubicBezTo>
                <a:cubicBezTo>
                  <a:pt x="4030296" y="1181772"/>
                  <a:pt x="4029574" y="1222221"/>
                  <a:pt x="4025570" y="1262415"/>
                </a:cubicBezTo>
                <a:cubicBezTo>
                  <a:pt x="4021769" y="1313563"/>
                  <a:pt x="4009606" y="1365472"/>
                  <a:pt x="4018348" y="1416238"/>
                </a:cubicBezTo>
                <a:cubicBezTo>
                  <a:pt x="4024037" y="1458058"/>
                  <a:pt x="4027166" y="1500194"/>
                  <a:pt x="4027724" y="1542394"/>
                </a:cubicBezTo>
                <a:cubicBezTo>
                  <a:pt x="4032158" y="1636820"/>
                  <a:pt x="4027977" y="1731753"/>
                  <a:pt x="4026330" y="1826433"/>
                </a:cubicBezTo>
                <a:cubicBezTo>
                  <a:pt x="4024556" y="1936724"/>
                  <a:pt x="4027344" y="2047015"/>
                  <a:pt x="4018475" y="2157432"/>
                </a:cubicBezTo>
                <a:cubicBezTo>
                  <a:pt x="4013597" y="2246629"/>
                  <a:pt x="4013597" y="2336029"/>
                  <a:pt x="4018475" y="2425226"/>
                </a:cubicBezTo>
                <a:cubicBezTo>
                  <a:pt x="4020882" y="2506961"/>
                  <a:pt x="4033172" y="2587934"/>
                  <a:pt x="4031145" y="2670557"/>
                </a:cubicBezTo>
                <a:cubicBezTo>
                  <a:pt x="4028737" y="2766886"/>
                  <a:pt x="4017335" y="2862962"/>
                  <a:pt x="4020882" y="2959546"/>
                </a:cubicBezTo>
                <a:cubicBezTo>
                  <a:pt x="4022529" y="3005617"/>
                  <a:pt x="4022656" y="3051688"/>
                  <a:pt x="4023543" y="3097758"/>
                </a:cubicBezTo>
                <a:cubicBezTo>
                  <a:pt x="4024683" y="3153221"/>
                  <a:pt x="4034692" y="3208556"/>
                  <a:pt x="4029117" y="3263892"/>
                </a:cubicBezTo>
                <a:cubicBezTo>
                  <a:pt x="4019869" y="3356161"/>
                  <a:pt x="3995923" y="3446906"/>
                  <a:pt x="4010873" y="3541459"/>
                </a:cubicBezTo>
                <a:cubicBezTo>
                  <a:pt x="4019108" y="3593495"/>
                  <a:pt x="4028357" y="3645658"/>
                  <a:pt x="4033172" y="3698201"/>
                </a:cubicBezTo>
                <a:cubicBezTo>
                  <a:pt x="4037353" y="3745160"/>
                  <a:pt x="4047868" y="3792881"/>
                  <a:pt x="4039886" y="3839586"/>
                </a:cubicBezTo>
                <a:cubicBezTo>
                  <a:pt x="4033045" y="3879565"/>
                  <a:pt x="4036592" y="3919544"/>
                  <a:pt x="4031271" y="3959523"/>
                </a:cubicBezTo>
                <a:cubicBezTo>
                  <a:pt x="4024303" y="4011939"/>
                  <a:pt x="4020629" y="4065244"/>
                  <a:pt x="4015308" y="4118042"/>
                </a:cubicBezTo>
                <a:cubicBezTo>
                  <a:pt x="4010620" y="4165889"/>
                  <a:pt x="4006946" y="4213610"/>
                  <a:pt x="4019615" y="4258539"/>
                </a:cubicBezTo>
                <a:cubicBezTo>
                  <a:pt x="4050656" y="4371622"/>
                  <a:pt x="4033679" y="4484070"/>
                  <a:pt x="4022023" y="4596391"/>
                </a:cubicBezTo>
                <a:cubicBezTo>
                  <a:pt x="4016321" y="4650965"/>
                  <a:pt x="4007959" y="4708712"/>
                  <a:pt x="4020629" y="4758718"/>
                </a:cubicBezTo>
                <a:cubicBezTo>
                  <a:pt x="4043941" y="4847432"/>
                  <a:pt x="4025697" y="4931705"/>
                  <a:pt x="4015561" y="5016866"/>
                </a:cubicBezTo>
                <a:cubicBezTo>
                  <a:pt x="4003335" y="5100174"/>
                  <a:pt x="4005096" y="5184929"/>
                  <a:pt x="4020756" y="5267654"/>
                </a:cubicBezTo>
                <a:cubicBezTo>
                  <a:pt x="4033172" y="5326035"/>
                  <a:pt x="4033172" y="5385432"/>
                  <a:pt x="4034692" y="5444194"/>
                </a:cubicBezTo>
                <a:cubicBezTo>
                  <a:pt x="4035579" y="5481001"/>
                  <a:pt x="4022023" y="5518441"/>
                  <a:pt x="4013027" y="5555120"/>
                </a:cubicBezTo>
                <a:cubicBezTo>
                  <a:pt x="3996937" y="5621371"/>
                  <a:pt x="3991109" y="5688636"/>
                  <a:pt x="4013027" y="5753237"/>
                </a:cubicBezTo>
                <a:cubicBezTo>
                  <a:pt x="4043561" y="5842713"/>
                  <a:pt x="4061045" y="5932189"/>
                  <a:pt x="4048375" y="6026870"/>
                </a:cubicBezTo>
                <a:cubicBezTo>
                  <a:pt x="4041027" y="6085251"/>
                  <a:pt x="4039380" y="6144902"/>
                  <a:pt x="4028357" y="6202522"/>
                </a:cubicBezTo>
                <a:cubicBezTo>
                  <a:pt x="4010240" y="6298091"/>
                  <a:pt x="4016701" y="6393024"/>
                  <a:pt x="4031145" y="6487196"/>
                </a:cubicBezTo>
                <a:cubicBezTo>
                  <a:pt x="4041293" y="6565885"/>
                  <a:pt x="4042395" y="6645474"/>
                  <a:pt x="4034439" y="6724403"/>
                </a:cubicBezTo>
                <a:lnTo>
                  <a:pt x="4025206" y="6858000"/>
                </a:lnTo>
                <a:lnTo>
                  <a:pt x="0" y="6858000"/>
                </a:lnTo>
                <a:close/>
              </a:path>
            </a:pathLst>
          </a:custGeom>
        </p:spPr>
      </p:pic>
      <p:sp>
        <p:nvSpPr>
          <p:cNvPr id="11" name="sketchy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296" y="2395728"/>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DDA6CD0-DE6E-7210-8BD3-67D16739A2DC}"/>
              </a:ext>
            </a:extLst>
          </p:cNvPr>
          <p:cNvSpPr>
            <a:spLocks noGrp="1"/>
          </p:cNvSpPr>
          <p:nvPr>
            <p:ph idx="1"/>
          </p:nvPr>
        </p:nvSpPr>
        <p:spPr>
          <a:xfrm>
            <a:off x="4654296" y="2706624"/>
            <a:ext cx="6894576" cy="3483864"/>
          </a:xfrm>
        </p:spPr>
        <p:txBody>
          <a:bodyPr>
            <a:normAutofit/>
          </a:bodyPr>
          <a:lstStyle/>
          <a:p>
            <a:pPr>
              <a:buNone/>
            </a:pPr>
            <a:r>
              <a:rPr lang="en-US" sz="2000"/>
              <a:t>The preprocessed tweets were vectorized using the TF-IDF technique with a limit of 5000 features. We trained two models:</a:t>
            </a:r>
          </a:p>
          <a:p>
            <a:pPr>
              <a:buFont typeface="Arial" panose="020B0604020202020204" pitchFamily="34" charset="0"/>
              <a:buChar char="•"/>
            </a:pPr>
            <a:r>
              <a:rPr lang="en-US" sz="2000"/>
              <a:t>Logistic Regression, which achieved the highest accuracy.</a:t>
            </a:r>
          </a:p>
          <a:p>
            <a:pPr>
              <a:buFont typeface="Arial" panose="020B0604020202020204" pitchFamily="34" charset="0"/>
              <a:buChar char="•"/>
            </a:pPr>
            <a:r>
              <a:rPr lang="en-US" sz="2000"/>
              <a:t>Multinomial Naive Bayes, used for comparison. We further optimized Logistic Regression using GridSearchCV and performed cross-validation to ensure robustness. The final model achieved an accuracy of approximately 79% with balanced precision and recall.</a:t>
            </a:r>
          </a:p>
          <a:p>
            <a:endParaRPr lang="en-CA" sz="2000"/>
          </a:p>
        </p:txBody>
      </p:sp>
    </p:spTree>
    <p:extLst>
      <p:ext uri="{BB962C8B-B14F-4D97-AF65-F5344CB8AC3E}">
        <p14:creationId xmlns:p14="http://schemas.microsoft.com/office/powerpoint/2010/main" val="18755850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169D286-F4D7-4C8B-A6BD-D05384C7F1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6">
            <a:extLst>
              <a:ext uri="{FF2B5EF4-FFF2-40B4-BE49-F238E27FC236}">
                <a16:creationId xmlns:a16="http://schemas.microsoft.com/office/drawing/2014/main" id="{39E8235E-135E-4261-8F54-2B316E493C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2164" y="610728"/>
            <a:ext cx="759618" cy="571096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7">
            <a:extLst>
              <a:ext uri="{FF2B5EF4-FFF2-40B4-BE49-F238E27FC236}">
                <a16:creationId xmlns:a16="http://schemas.microsoft.com/office/drawing/2014/main" id="{D4ED8EC3-4D57-4620-93CE-4E6661F09A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4437" y="343079"/>
            <a:ext cx="482654"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2" name="Freeform: Shape 21">
            <a:extLst>
              <a:ext uri="{FF2B5EF4-FFF2-40B4-BE49-F238E27FC236}">
                <a16:creationId xmlns:a16="http://schemas.microsoft.com/office/drawing/2014/main" id="{83BCB34A-2F40-4F41-8488-A134C1C155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5" y="340424"/>
            <a:ext cx="4630139" cy="5265795"/>
          </a:xfrm>
          <a:custGeom>
            <a:avLst/>
            <a:gdLst>
              <a:gd name="connsiteX0" fmla="*/ 0 w 4630139"/>
              <a:gd name="connsiteY0" fmla="*/ 0 h 5265795"/>
              <a:gd name="connsiteX1" fmla="*/ 4630139 w 4630139"/>
              <a:gd name="connsiteY1" fmla="*/ 0 h 5265795"/>
              <a:gd name="connsiteX2" fmla="*/ 4630139 w 4630139"/>
              <a:gd name="connsiteY2" fmla="*/ 5265795 h 5265795"/>
              <a:gd name="connsiteX3" fmla="*/ 0 w 4630139"/>
              <a:gd name="connsiteY3" fmla="*/ 5265795 h 5265795"/>
            </a:gdLst>
            <a:ahLst/>
            <a:cxnLst>
              <a:cxn ang="0">
                <a:pos x="connsiteX0" y="connsiteY0"/>
              </a:cxn>
              <a:cxn ang="0">
                <a:pos x="connsiteX1" y="connsiteY1"/>
              </a:cxn>
              <a:cxn ang="0">
                <a:pos x="connsiteX2" y="connsiteY2"/>
              </a:cxn>
              <a:cxn ang="0">
                <a:pos x="connsiteX3" y="connsiteY3"/>
              </a:cxn>
            </a:cxnLst>
            <a:rect l="l" t="t" r="r" b="b"/>
            <a:pathLst>
              <a:path w="4630139" h="5265795">
                <a:moveTo>
                  <a:pt x="0" y="0"/>
                </a:moveTo>
                <a:lnTo>
                  <a:pt x="4630139" y="0"/>
                </a:lnTo>
                <a:lnTo>
                  <a:pt x="4630139" y="5265795"/>
                </a:lnTo>
                <a:lnTo>
                  <a:pt x="0" y="5265795"/>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 name="Picture 6">
            <a:extLst>
              <a:ext uri="{FF2B5EF4-FFF2-40B4-BE49-F238E27FC236}">
                <a16:creationId xmlns:a16="http://schemas.microsoft.com/office/drawing/2014/main" id="{BDF05D37-BFD7-74C3-2200-3D11679BA3CB}"/>
              </a:ext>
            </a:extLst>
          </p:cNvPr>
          <p:cNvPicPr>
            <a:picLocks noChangeAspect="1"/>
          </p:cNvPicPr>
          <p:nvPr/>
        </p:nvPicPr>
        <p:blipFill>
          <a:blip r:embed="rId2"/>
          <a:stretch>
            <a:fillRect/>
          </a:stretch>
        </p:blipFill>
        <p:spPr>
          <a:xfrm>
            <a:off x="247229" y="1405554"/>
            <a:ext cx="4074400" cy="3188217"/>
          </a:xfrm>
          <a:prstGeom prst="rect">
            <a:avLst/>
          </a:prstGeom>
        </p:spPr>
      </p:pic>
      <p:sp>
        <p:nvSpPr>
          <p:cNvPr id="23" name="Freeform: Shape 22">
            <a:extLst>
              <a:ext uri="{FF2B5EF4-FFF2-40B4-BE49-F238E27FC236}">
                <a16:creationId xmlns:a16="http://schemas.microsoft.com/office/drawing/2014/main" id="{F78382DC-4207-465E-B379-1E16448AA2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1780" y="1071563"/>
            <a:ext cx="7290218" cy="5242298"/>
          </a:xfrm>
          <a:custGeom>
            <a:avLst/>
            <a:gdLst>
              <a:gd name="connsiteX0" fmla="*/ 0 w 7290218"/>
              <a:gd name="connsiteY0" fmla="*/ 0 h 5242298"/>
              <a:gd name="connsiteX1" fmla="*/ 7290218 w 7290218"/>
              <a:gd name="connsiteY1" fmla="*/ 0 h 5242298"/>
              <a:gd name="connsiteX2" fmla="*/ 7290218 w 7290218"/>
              <a:gd name="connsiteY2" fmla="*/ 5242298 h 5242298"/>
              <a:gd name="connsiteX3" fmla="*/ 0 w 7290218"/>
              <a:gd name="connsiteY3" fmla="*/ 5242298 h 5242298"/>
            </a:gdLst>
            <a:ahLst/>
            <a:cxnLst>
              <a:cxn ang="0">
                <a:pos x="connsiteX0" y="connsiteY0"/>
              </a:cxn>
              <a:cxn ang="0">
                <a:pos x="connsiteX1" y="connsiteY1"/>
              </a:cxn>
              <a:cxn ang="0">
                <a:pos x="connsiteX2" y="connsiteY2"/>
              </a:cxn>
              <a:cxn ang="0">
                <a:pos x="connsiteX3" y="connsiteY3"/>
              </a:cxn>
            </a:cxnLst>
            <a:rect l="l" t="t" r="r" b="b"/>
            <a:pathLst>
              <a:path w="7290218" h="5242298">
                <a:moveTo>
                  <a:pt x="0" y="0"/>
                </a:moveTo>
                <a:lnTo>
                  <a:pt x="7290218" y="0"/>
                </a:lnTo>
                <a:lnTo>
                  <a:pt x="7290218" y="5242298"/>
                </a:lnTo>
                <a:lnTo>
                  <a:pt x="0" y="5242298"/>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0F87C4F3-740D-2CE2-9B39-2891F6ADED1C}"/>
              </a:ext>
            </a:extLst>
          </p:cNvPr>
          <p:cNvPicPr>
            <a:picLocks noChangeAspect="1"/>
          </p:cNvPicPr>
          <p:nvPr/>
        </p:nvPicPr>
        <p:blipFill>
          <a:blip r:embed="rId3"/>
          <a:stretch>
            <a:fillRect/>
          </a:stretch>
        </p:blipFill>
        <p:spPr>
          <a:xfrm>
            <a:off x="5071346" y="1872343"/>
            <a:ext cx="6819866" cy="3733876"/>
          </a:xfrm>
          <a:prstGeom prst="rect">
            <a:avLst/>
          </a:prstGeom>
        </p:spPr>
      </p:pic>
    </p:spTree>
    <p:extLst>
      <p:ext uri="{BB962C8B-B14F-4D97-AF65-F5344CB8AC3E}">
        <p14:creationId xmlns:p14="http://schemas.microsoft.com/office/powerpoint/2010/main" val="2891730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00C0B6-C55C-4FD8-CB9D-9BB3F6EF8ADE}"/>
              </a:ext>
            </a:extLst>
          </p:cNvPr>
          <p:cNvSpPr>
            <a:spLocks noGrp="1"/>
          </p:cNvSpPr>
          <p:nvPr>
            <p:ph type="title"/>
          </p:nvPr>
        </p:nvSpPr>
        <p:spPr>
          <a:xfrm>
            <a:off x="630936" y="639520"/>
            <a:ext cx="3429000" cy="1719072"/>
          </a:xfrm>
        </p:spPr>
        <p:txBody>
          <a:bodyPr anchor="b">
            <a:normAutofit/>
          </a:bodyPr>
          <a:lstStyle/>
          <a:p>
            <a:r>
              <a:rPr lang="en-CA" sz="3800" b="1"/>
              <a:t>Model Deployment using Flask</a:t>
            </a:r>
            <a:endParaRPr lang="en-CA" sz="3800"/>
          </a:p>
        </p:txBody>
      </p:sp>
      <p:sp>
        <p:nvSpPr>
          <p:cNvPr id="34"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1E21E35-B4BF-CC2D-417F-86CB5CA0E582}"/>
              </a:ext>
            </a:extLst>
          </p:cNvPr>
          <p:cNvSpPr>
            <a:spLocks noGrp="1"/>
          </p:cNvSpPr>
          <p:nvPr>
            <p:ph idx="1"/>
          </p:nvPr>
        </p:nvSpPr>
        <p:spPr>
          <a:xfrm>
            <a:off x="630936" y="2807208"/>
            <a:ext cx="3429000" cy="3410712"/>
          </a:xfrm>
        </p:spPr>
        <p:txBody>
          <a:bodyPr anchor="t">
            <a:normAutofit/>
          </a:bodyPr>
          <a:lstStyle/>
          <a:p>
            <a:pPr marL="0" indent="0">
              <a:buNone/>
            </a:pPr>
            <a:r>
              <a:rPr lang="en-US" sz="1900"/>
              <a:t>After finalizing the best model, we serialized it using joblib and built a simple Flask app to expose it as an API. The /predict endpoint accepts a JSON object with the tweet text, applies the same cleaning and vectorization steps, and returns the predicted sentiment. The app runs locally and can be tested at </a:t>
            </a:r>
            <a:r>
              <a:rPr lang="en-US" sz="1900">
                <a:hlinkClick r:id="rId2"/>
              </a:rPr>
              <a:t>http://127.0.0.1:5000</a:t>
            </a:r>
            <a:r>
              <a:rPr lang="en-US" sz="1900"/>
              <a:t> .</a:t>
            </a:r>
            <a:endParaRPr lang="en-CA" sz="1900"/>
          </a:p>
        </p:txBody>
      </p:sp>
      <p:pic>
        <p:nvPicPr>
          <p:cNvPr id="11" name="Picture 10">
            <a:extLst>
              <a:ext uri="{FF2B5EF4-FFF2-40B4-BE49-F238E27FC236}">
                <a16:creationId xmlns:a16="http://schemas.microsoft.com/office/drawing/2014/main" id="{913883B8-A418-12C8-A69D-E4C6A038A6AA}"/>
              </a:ext>
            </a:extLst>
          </p:cNvPr>
          <p:cNvPicPr>
            <a:picLocks noChangeAspect="1"/>
          </p:cNvPicPr>
          <p:nvPr/>
        </p:nvPicPr>
        <p:blipFill>
          <a:blip r:embed="rId3"/>
          <a:stretch>
            <a:fillRect/>
          </a:stretch>
        </p:blipFill>
        <p:spPr>
          <a:xfrm>
            <a:off x="4654295" y="1357232"/>
            <a:ext cx="7248183" cy="4183161"/>
          </a:xfrm>
          <a:prstGeom prst="rect">
            <a:avLst/>
          </a:prstGeom>
        </p:spPr>
      </p:pic>
    </p:spTree>
    <p:extLst>
      <p:ext uri="{BB962C8B-B14F-4D97-AF65-F5344CB8AC3E}">
        <p14:creationId xmlns:p14="http://schemas.microsoft.com/office/powerpoint/2010/main" val="29626212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AF522D5-0AED-4C4B-A2C1-C2A1A87B3411}"/>
              </a:ext>
            </a:extLst>
          </p:cNvPr>
          <p:cNvSpPr>
            <a:spLocks noGrp="1"/>
          </p:cNvSpPr>
          <p:nvPr>
            <p:ph type="title"/>
          </p:nvPr>
        </p:nvSpPr>
        <p:spPr>
          <a:xfrm>
            <a:off x="1285240" y="1050595"/>
            <a:ext cx="8074815" cy="1618489"/>
          </a:xfrm>
        </p:spPr>
        <p:txBody>
          <a:bodyPr anchor="ctr">
            <a:normAutofit/>
          </a:bodyPr>
          <a:lstStyle/>
          <a:p>
            <a:r>
              <a:rPr lang="en-CA" sz="7200" b="1" dirty="0"/>
              <a:t>Postman API Testing</a:t>
            </a:r>
            <a:endParaRPr lang="en-CA" sz="7200" dirty="0"/>
          </a:p>
        </p:txBody>
      </p:sp>
      <p:sp>
        <p:nvSpPr>
          <p:cNvPr id="3" name="Content Placeholder 2">
            <a:extLst>
              <a:ext uri="{FF2B5EF4-FFF2-40B4-BE49-F238E27FC236}">
                <a16:creationId xmlns:a16="http://schemas.microsoft.com/office/drawing/2014/main" id="{F1971EBF-D982-19B9-767A-E5AF2D30DA3C}"/>
              </a:ext>
            </a:extLst>
          </p:cNvPr>
          <p:cNvSpPr>
            <a:spLocks noGrp="1"/>
          </p:cNvSpPr>
          <p:nvPr>
            <p:ph idx="1"/>
          </p:nvPr>
        </p:nvSpPr>
        <p:spPr>
          <a:xfrm>
            <a:off x="1285240" y="2969469"/>
            <a:ext cx="8074815" cy="2800395"/>
          </a:xfrm>
        </p:spPr>
        <p:txBody>
          <a:bodyPr anchor="t">
            <a:normAutofit/>
          </a:bodyPr>
          <a:lstStyle/>
          <a:p>
            <a:pPr marL="0" indent="0">
              <a:buNone/>
            </a:pPr>
            <a:r>
              <a:rPr lang="en-US" sz="2400"/>
              <a:t>To verify our deployment, we used Postman to simulate user requests. We sent POST requests to the /predict endpoint with different tweet samples. The server returned real-time predictions as JSON responses, validating that the Flask API could successfully serve the model.</a:t>
            </a:r>
            <a:endParaRPr lang="en-CA" sz="2400"/>
          </a:p>
        </p:txBody>
      </p:sp>
    </p:spTree>
    <p:extLst>
      <p:ext uri="{BB962C8B-B14F-4D97-AF65-F5344CB8AC3E}">
        <p14:creationId xmlns:p14="http://schemas.microsoft.com/office/powerpoint/2010/main" val="36154534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FA50DB-188D-D8A4-4F45-786331E9380A}"/>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b="1" kern="1200">
                <a:solidFill>
                  <a:srgbClr val="FFFFFF"/>
                </a:solidFill>
                <a:latin typeface="+mj-lt"/>
                <a:ea typeface="+mj-ea"/>
                <a:cs typeface="+mj-cs"/>
              </a:rPr>
              <a:t>Postman API Testing</a:t>
            </a:r>
            <a:endParaRPr lang="en-US" sz="3600" kern="1200">
              <a:solidFill>
                <a:srgbClr val="FFFFFF"/>
              </a:solidFill>
              <a:latin typeface="+mj-lt"/>
              <a:ea typeface="+mj-ea"/>
              <a:cs typeface="+mj-cs"/>
            </a:endParaRPr>
          </a:p>
        </p:txBody>
      </p:sp>
      <p:pic>
        <p:nvPicPr>
          <p:cNvPr id="5" name="Picture 4">
            <a:extLst>
              <a:ext uri="{FF2B5EF4-FFF2-40B4-BE49-F238E27FC236}">
                <a16:creationId xmlns:a16="http://schemas.microsoft.com/office/drawing/2014/main" id="{36360C88-463A-FE1E-B289-8A3730782FD7}"/>
              </a:ext>
            </a:extLst>
          </p:cNvPr>
          <p:cNvPicPr>
            <a:picLocks noChangeAspect="1"/>
          </p:cNvPicPr>
          <p:nvPr/>
        </p:nvPicPr>
        <p:blipFill>
          <a:blip r:embed="rId2"/>
          <a:stretch>
            <a:fillRect/>
          </a:stretch>
        </p:blipFill>
        <p:spPr>
          <a:xfrm>
            <a:off x="4390901" y="1066800"/>
            <a:ext cx="7528956" cy="5148943"/>
          </a:xfrm>
          <a:prstGeom prst="rect">
            <a:avLst/>
          </a:prstGeom>
        </p:spPr>
      </p:pic>
    </p:spTree>
    <p:extLst>
      <p:ext uri="{BB962C8B-B14F-4D97-AF65-F5344CB8AC3E}">
        <p14:creationId xmlns:p14="http://schemas.microsoft.com/office/powerpoint/2010/main" val="23025379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A788D-D11C-FB3B-67AC-20C51A691942}"/>
              </a:ext>
            </a:extLst>
          </p:cNvPr>
          <p:cNvSpPr>
            <a:spLocks noGrp="1"/>
          </p:cNvSpPr>
          <p:nvPr>
            <p:ph type="title"/>
          </p:nvPr>
        </p:nvSpPr>
        <p:spPr/>
        <p:txBody>
          <a:bodyPr/>
          <a:lstStyle/>
          <a:p>
            <a:r>
              <a:rPr lang="en-CA" b="1"/>
              <a:t>Results &amp; Observations</a:t>
            </a:r>
            <a:endParaRPr lang="en-CA" dirty="0"/>
          </a:p>
        </p:txBody>
      </p:sp>
      <p:graphicFrame>
        <p:nvGraphicFramePr>
          <p:cNvPr id="5" name="Content Placeholder 2">
            <a:extLst>
              <a:ext uri="{FF2B5EF4-FFF2-40B4-BE49-F238E27FC236}">
                <a16:creationId xmlns:a16="http://schemas.microsoft.com/office/drawing/2014/main" id="{7F7EC5FF-D26E-72FC-867B-BBDA12E8B9C2}"/>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230034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AD318CC-E2A8-4E27-9548-A047A78999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167C79-2966-5534-AA11-32E0DB5A28F4}"/>
              </a:ext>
            </a:extLst>
          </p:cNvPr>
          <p:cNvSpPr>
            <a:spLocks noGrp="1"/>
          </p:cNvSpPr>
          <p:nvPr>
            <p:ph type="title"/>
          </p:nvPr>
        </p:nvSpPr>
        <p:spPr>
          <a:xfrm>
            <a:off x="645065" y="1463040"/>
            <a:ext cx="3796306" cy="2690949"/>
          </a:xfrm>
        </p:spPr>
        <p:txBody>
          <a:bodyPr anchor="t">
            <a:normAutofit/>
          </a:bodyPr>
          <a:lstStyle/>
          <a:p>
            <a:r>
              <a:rPr lang="en-CA" b="1" dirty="0"/>
              <a:t>Conclusion &amp; Future Enhancements</a:t>
            </a:r>
            <a:r>
              <a:rPr lang="en-CA" dirty="0"/>
              <a:t> </a:t>
            </a:r>
          </a:p>
        </p:txBody>
      </p:sp>
      <p:grpSp>
        <p:nvGrpSpPr>
          <p:cNvPr id="10" name="Group 9">
            <a:extLst>
              <a:ext uri="{FF2B5EF4-FFF2-40B4-BE49-F238E27FC236}">
                <a16:creationId xmlns:a16="http://schemas.microsoft.com/office/drawing/2014/main" id="{B14B560F-9DD7-4302-A60B-EBD3EF59B0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4415246"/>
            <a:ext cx="11982332" cy="2087795"/>
            <a:chOff x="143163" y="5763486"/>
            <a:chExt cx="11982332" cy="739555"/>
          </a:xfrm>
        </p:grpSpPr>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C21D6966-343E-49AC-A026-D2497E0C3C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9706E1B-D25D-6AAE-DF8B-52282C1E3DB0}"/>
              </a:ext>
            </a:extLst>
          </p:cNvPr>
          <p:cNvSpPr>
            <a:spLocks noGrp="1"/>
          </p:cNvSpPr>
          <p:nvPr>
            <p:ph idx="1"/>
          </p:nvPr>
        </p:nvSpPr>
        <p:spPr>
          <a:xfrm>
            <a:off x="5656218" y="1463039"/>
            <a:ext cx="5542387" cy="4300447"/>
          </a:xfrm>
        </p:spPr>
        <p:txBody>
          <a:bodyPr anchor="t">
            <a:normAutofit/>
          </a:bodyPr>
          <a:lstStyle/>
          <a:p>
            <a:pPr>
              <a:buNone/>
            </a:pPr>
            <a:r>
              <a:rPr lang="en-US" sz="2000"/>
              <a:t>This project successfully demonstrates an end-to-end sentiment classification pipeline from data ingestion to real-time deployment. The Flask-based web API enables practical usage and integration with other systems.</a:t>
            </a:r>
          </a:p>
          <a:p>
            <a:pPr>
              <a:buNone/>
            </a:pPr>
            <a:r>
              <a:rPr lang="en-US" sz="2000" b="1"/>
              <a:t>Future Enhancements:</a:t>
            </a:r>
            <a:endParaRPr lang="en-US" sz="2000"/>
          </a:p>
          <a:p>
            <a:pPr>
              <a:buFont typeface="Arial" panose="020B0604020202020204" pitchFamily="34" charset="0"/>
              <a:buChar char="•"/>
            </a:pPr>
            <a:r>
              <a:rPr lang="en-US" sz="2000"/>
              <a:t>Introduce a third sentiment class: neutral.</a:t>
            </a:r>
          </a:p>
          <a:p>
            <a:pPr>
              <a:buFont typeface="Arial" panose="020B0604020202020204" pitchFamily="34" charset="0"/>
              <a:buChar char="•"/>
            </a:pPr>
            <a:r>
              <a:rPr lang="en-US" sz="2000"/>
              <a:t>Use deep learning models like BERT or LSTM for improved accuracy.</a:t>
            </a:r>
          </a:p>
          <a:p>
            <a:pPr>
              <a:buFont typeface="Arial" panose="020B0604020202020204" pitchFamily="34" charset="0"/>
              <a:buChar char="•"/>
            </a:pPr>
            <a:r>
              <a:rPr lang="en-US" sz="2000"/>
              <a:t>Connect to Twitter’s live API for dynamic tweet sentiment tracking.</a:t>
            </a:r>
          </a:p>
          <a:p>
            <a:pPr>
              <a:buFont typeface="Arial" panose="020B0604020202020204" pitchFamily="34" charset="0"/>
              <a:buChar char="•"/>
            </a:pPr>
            <a:r>
              <a:rPr lang="en-US" sz="2000"/>
              <a:t>Deploy the model on cloud platforms such as AWS EC2 or Heroku for public access.</a:t>
            </a:r>
          </a:p>
        </p:txBody>
      </p:sp>
    </p:spTree>
    <p:extLst>
      <p:ext uri="{BB962C8B-B14F-4D97-AF65-F5344CB8AC3E}">
        <p14:creationId xmlns:p14="http://schemas.microsoft.com/office/powerpoint/2010/main" val="8986077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6D63398-EEE4-4E6A-BEF3-E92924A282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23" y="0"/>
            <a:ext cx="12226755" cy="6858000"/>
          </a:xfrm>
          <a:prstGeom prst="rect">
            <a:avLst/>
          </a:prstGeom>
          <a:gradFill>
            <a:gsLst>
              <a:gs pos="0">
                <a:srgbClr val="000000"/>
              </a:gs>
              <a:gs pos="100000">
                <a:schemeClr val="accent1">
                  <a:lumMod val="7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6804B24-17AC-406D-9636-1332F5DF9A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903156" y="-2460574"/>
            <a:ext cx="6859919" cy="11777232"/>
          </a:xfrm>
          <a:prstGeom prst="rect">
            <a:avLst/>
          </a:prstGeom>
          <a:gradFill>
            <a:gsLst>
              <a:gs pos="0">
                <a:schemeClr val="accent1">
                  <a:lumMod val="50000"/>
                  <a:alpha val="0"/>
                </a:schemeClr>
              </a:gs>
              <a:gs pos="100000">
                <a:schemeClr val="accent1">
                  <a:lumMod val="5000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23" y="-864"/>
            <a:ext cx="3608179" cy="6858864"/>
          </a:xfrm>
          <a:prstGeom prst="rect">
            <a:avLst/>
          </a:prstGeom>
          <a:gradFill>
            <a:gsLst>
              <a:gs pos="0">
                <a:schemeClr val="accent1">
                  <a:lumMod val="75000"/>
                  <a:alpha val="48000"/>
                </a:schemeClr>
              </a:gs>
              <a:gs pos="99000">
                <a:srgbClr val="000000">
                  <a:alpha val="46000"/>
                </a:srgb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626703">
            <a:off x="1164940" y="1025588"/>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570DF94D-F28F-435E-AD56-C40FC99AFA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2409782"/>
            <a:ext cx="12221732" cy="4443259"/>
          </a:xfrm>
          <a:prstGeom prst="rect">
            <a:avLst/>
          </a:prstGeom>
          <a:gradFill>
            <a:gsLst>
              <a:gs pos="0">
                <a:schemeClr val="accent1">
                  <a:lumMod val="75000"/>
                  <a:alpha val="50000"/>
                </a:schemeClr>
              </a:gs>
              <a:gs pos="99000">
                <a:srgbClr val="000000">
                  <a:alpha val="11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84F952EE-9AAE-4D81-BF98-35DF713340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942096" y="-2872097"/>
            <a:ext cx="6407535" cy="12151737"/>
          </a:xfrm>
          <a:prstGeom prst="rect">
            <a:avLst/>
          </a:prstGeom>
          <a:gradFill>
            <a:gsLst>
              <a:gs pos="1000">
                <a:srgbClr val="000000">
                  <a:alpha val="33000"/>
                </a:srgbClr>
              </a:gs>
              <a:gs pos="100000">
                <a:schemeClr val="accent1">
                  <a:lumMod val="50000"/>
                  <a:alpha val="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C38D2686-CF42-39E5-763D-5A1F1C6F2E95}"/>
              </a:ext>
            </a:extLst>
          </p:cNvPr>
          <p:cNvSpPr>
            <a:spLocks noGrp="1"/>
          </p:cNvSpPr>
          <p:nvPr>
            <p:ph type="title"/>
          </p:nvPr>
        </p:nvSpPr>
        <p:spPr>
          <a:xfrm>
            <a:off x="4244454" y="3006586"/>
            <a:ext cx="7284935" cy="2732297"/>
          </a:xfrm>
        </p:spPr>
        <p:txBody>
          <a:bodyPr vert="horz" lIns="91440" tIns="45720" rIns="91440" bIns="45720" rtlCol="0" anchor="t">
            <a:normAutofit/>
          </a:bodyPr>
          <a:lstStyle/>
          <a:p>
            <a:r>
              <a:rPr lang="en-US" sz="4800" b="1" kern="1200" dirty="0">
                <a:solidFill>
                  <a:srgbClr val="FFFFFF"/>
                </a:solidFill>
                <a:latin typeface="+mj-lt"/>
                <a:ea typeface="+mj-ea"/>
                <a:cs typeface="+mj-cs"/>
              </a:rPr>
              <a:t>Thank You</a:t>
            </a:r>
            <a:r>
              <a:rPr lang="en-US" sz="4800" kern="1200" dirty="0">
                <a:solidFill>
                  <a:srgbClr val="FFFFFF"/>
                </a:solidFill>
                <a:latin typeface="+mj-lt"/>
                <a:ea typeface="+mj-ea"/>
                <a:cs typeface="+mj-cs"/>
              </a:rPr>
              <a:t> </a:t>
            </a:r>
          </a:p>
        </p:txBody>
      </p:sp>
    </p:spTree>
    <p:extLst>
      <p:ext uri="{BB962C8B-B14F-4D97-AF65-F5344CB8AC3E}">
        <p14:creationId xmlns:p14="http://schemas.microsoft.com/office/powerpoint/2010/main" val="28789340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69</TotalTime>
  <Words>797</Words>
  <Application>Microsoft Office PowerPoint</Application>
  <PresentationFormat>Widescreen</PresentationFormat>
  <Paragraphs>65</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Aptos</vt:lpstr>
      <vt:lpstr>Aptos Display</vt:lpstr>
      <vt:lpstr>Arial</vt:lpstr>
      <vt:lpstr>Office Theme</vt:lpstr>
      <vt:lpstr>Tweet Sentiment Classifier using Flask and Machine Learning</vt:lpstr>
      <vt:lpstr>Team Members:</vt:lpstr>
      <vt:lpstr>Problem Statement</vt:lpstr>
      <vt:lpstr>Project Objectives</vt:lpstr>
      <vt:lpstr>Dataset Overview</vt:lpstr>
      <vt:lpstr>Data Cleaning Process</vt:lpstr>
      <vt:lpstr>Cleaning the Dataset</vt:lpstr>
      <vt:lpstr>EDA &amp; Visualizations</vt:lpstr>
      <vt:lpstr>PowerPoint Presentation</vt:lpstr>
      <vt:lpstr>Model Training &amp; Evaluation</vt:lpstr>
      <vt:lpstr>PowerPoint Presentation</vt:lpstr>
      <vt:lpstr>Model Deployment using Flask</vt:lpstr>
      <vt:lpstr>Postman API Testing</vt:lpstr>
      <vt:lpstr>Postman API Testing</vt:lpstr>
      <vt:lpstr>Results &amp; Observations</vt:lpstr>
      <vt:lpstr>Conclusion &amp; Future Enhancements </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JOMOL JOY</dc:creator>
  <cp:lastModifiedBy>JOMOL JOY</cp:lastModifiedBy>
  <cp:revision>1</cp:revision>
  <dcterms:created xsi:type="dcterms:W3CDTF">2025-04-14T18:37:33Z</dcterms:created>
  <dcterms:modified xsi:type="dcterms:W3CDTF">2025-04-14T19:46:38Z</dcterms:modified>
</cp:coreProperties>
</file>